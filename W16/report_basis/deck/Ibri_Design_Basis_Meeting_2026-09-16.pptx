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5"/>
  </p:sldMasterIdLst>
  <p:notesMasterIdLst>
    <p:notesMasterId r:id="rId23"/>
  </p:notesMasterIdLst>
  <p:sldIdLst>
    <p:sldId id="479" r:id="rId6"/>
    <p:sldId id="480" r:id="rId7"/>
    <p:sldId id="481" r:id="rId8"/>
    <p:sldId id="482" r:id="rId9"/>
    <p:sldId id="483" r:id="rId10"/>
    <p:sldId id="484" r:id="rId11"/>
    <p:sldId id="485" r:id="rId12"/>
    <p:sldId id="486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69" r:id="rId22"/>
  </p:sldIdLst>
  <p:sldSz cx="24231600" cy="137175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E9769DB-D3D7-4C81-B466-237BA847FCB1}">
          <p14:sldIdLst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</p14:sldIdLst>
        </p14:section>
        <p14:section name=" Scope &amp; Key Plan" id="{ABE9DCAC-0417-4B5D-906B-E7481AD9BFDD}">
          <p14:sldIdLst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75" userDrawn="1">
          <p15:clr>
            <a:srgbClr val="A4A3A4"/>
          </p15:clr>
        </p15:guide>
        <p15:guide id="3" orient="horz" pos="43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9EA"/>
    <a:srgbClr val="315258"/>
    <a:srgbClr val="224046"/>
    <a:srgbClr val="89ACAF"/>
    <a:srgbClr val="E42039"/>
    <a:srgbClr val="01474D"/>
    <a:srgbClr val="2E2925"/>
    <a:srgbClr val="FFFFFF"/>
    <a:srgbClr val="92A3A5"/>
    <a:srgbClr val="2649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>
      <p:cViewPr varScale="1">
        <p:scale>
          <a:sx n="58" d="100"/>
          <a:sy n="58" d="100"/>
        </p:scale>
        <p:origin x="456" y="90"/>
      </p:cViewPr>
      <p:guideLst>
        <p:guide orient="horz" pos="1620"/>
        <p:guide pos="375"/>
        <p:guide orient="horz" pos="4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0050" y="685800"/>
            <a:ext cx="6057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6600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3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hour. The purpose: the seven decisions on the answer sheet at the end. Everything else is the reason for each.</a:t>
            </a:r>
          </a:p>
        </p:txBody>
      </p:sp>
    </p:spTree>
    <p:extLst>
      <p:ext uri="{BB962C8B-B14F-4D97-AF65-F5344CB8AC3E}">
        <p14:creationId xmlns:p14="http://schemas.microsoft.com/office/powerpoint/2010/main" val="4047642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hour: seven yes/no decisions. Say that the report is the record; today is for the decisions.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 Sections 3 to 7. Keep it to one minute: the point is that every later number comes from this chain.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2. Red dashed = received, blue = redrawn. The ask: approve the redrawn boundaries.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3.2, Table 4 has all 25. Housing units are not published at settlement level; counted properties replace them.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4. The 126 meters with no plot within 15 m are left out (about 140 people); the map is in the report.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5. These are informed, not asked. If NWS wants to change 164 or the ratios, it is their call; the numbers move accordingly.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6.3, Table 9 by settlement, the map of the routes in the report. The largest single decision.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6.4. No recommendation in the report: the two horizons and what each implies. Get the year.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6.2. The rate after 2058 drives when the last settlements fill, not how many people the land holds.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7. All of it is the guideline's, adopted; the one departure is the next slide.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7.3 and Appendix A2. The test area gave 70 % of the length needing early washing, all 200 mm under 1.3 l/s.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7.5. If NWS asks about two plants: the map and the four steps answer it on the spot.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Sections 7.6 to 7.8. Adopted, not asked.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9. None stops the concept design.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10 A. Read each line; take the answer; note who answered.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1" preserve="1" userDrawn="1">
  <p:cSld name="Title Page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594080" y="4340372"/>
            <a:ext cx="21899880" cy="27756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0000" b="1" i="0" spc="-150" baseline="0">
                <a:solidFill>
                  <a:schemeClr val="bg1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US" dirty="0"/>
              <a:t>TITLE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2FD550-1C9C-C0DB-3527-43CDF7306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231600" cy="113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6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231600" cy="13717588"/>
          </a:xfrm>
          <a:prstGeom prst="rect">
            <a:avLst/>
          </a:prstGeom>
        </p:spPr>
        <p:txBody>
          <a:bodyPr lIns="242815" tIns="121408" rIns="242815" bIns="121408"/>
          <a:lstStyle/>
          <a:p>
            <a:endParaRPr lang="en-IN"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243584" y="1184591"/>
            <a:ext cx="21899880" cy="56144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0" b="1" i="0" spc="-150" baseline="0">
                <a:solidFill>
                  <a:schemeClr val="bg1"/>
                </a:solidFill>
                <a:latin typeface="AvenirNext LT Pro Bold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2" name="Google Shape;9;p1">
            <a:extLst>
              <a:ext uri="{FF2B5EF4-FFF2-40B4-BE49-F238E27FC236}">
                <a16:creationId xmlns:a16="http://schemas.microsoft.com/office/drawing/2014/main" id="{63B01A17-275F-20EB-4FB2-82F0B8E02247}"/>
              </a:ext>
            </a:extLst>
          </p:cNvPr>
          <p:cNvPicPr preferRelativeResize="0"/>
          <p:nvPr userDrawn="1"/>
        </p:nvPicPr>
        <p:blipFill>
          <a:blip/>
          <a:srcRect/>
          <a:stretch>
            <a:fillRect/>
          </a:stretch>
        </p:blipFill>
        <p:spPr>
          <a:xfrm>
            <a:off x="596915" y="11873302"/>
            <a:ext cx="2761234" cy="1216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76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231600" cy="13717588"/>
          </a:xfrm>
          <a:prstGeom prst="rect">
            <a:avLst/>
          </a:prstGeom>
        </p:spPr>
        <p:txBody>
          <a:bodyPr lIns="242815" tIns="121408" rIns="242815" bIns="121408"/>
          <a:lstStyle/>
          <a:p>
            <a:endParaRPr lang="en-IN"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243584" y="1184591"/>
            <a:ext cx="21899880" cy="56144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0" b="1" i="0" spc="-150" baseline="0">
                <a:solidFill>
                  <a:srgbClr val="01474D"/>
                </a:solidFill>
                <a:latin typeface="Avenir Black" panose="02000503020000020003" pitchFamily="2" charset="0"/>
              </a:defRPr>
            </a:lvl1pPr>
          </a:lstStyle>
          <a:p>
            <a:r>
              <a:rPr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18432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1" preserve="1" userDrawn="1">
  <p:cSld name="1_Custom Layout 3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24231600" cy="13717588"/>
          </a:xfrm>
          <a:prstGeom prst="rect">
            <a:avLst/>
          </a:prstGeom>
          <a:solidFill>
            <a:srgbClr val="01474D"/>
          </a:solidFill>
          <a:ln>
            <a:noFill/>
          </a:ln>
        </p:spPr>
        <p:txBody>
          <a:bodyPr spcFirstLastPara="1" wrap="square" lIns="242776" tIns="242776" rIns="242776" bIns="2427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Parallelogram 1"/>
          <p:cNvSpPr/>
          <p:nvPr userDrawn="1"/>
        </p:nvSpPr>
        <p:spPr>
          <a:xfrm>
            <a:off x="3" y="8705170"/>
            <a:ext cx="24231600" cy="2618703"/>
          </a:xfrm>
          <a:custGeom>
            <a:avLst/>
            <a:gdLst>
              <a:gd name="connsiteX0" fmla="*/ 0 w 9144000"/>
              <a:gd name="connsiteY0" fmla="*/ 1122744 h 1122744"/>
              <a:gd name="connsiteX1" fmla="*/ 454307 w 9144000"/>
              <a:gd name="connsiteY1" fmla="*/ 0 h 1122744"/>
              <a:gd name="connsiteX2" fmla="*/ 9144000 w 9144000"/>
              <a:gd name="connsiteY2" fmla="*/ 0 h 1122744"/>
              <a:gd name="connsiteX3" fmla="*/ 8689693 w 9144000"/>
              <a:gd name="connsiteY3" fmla="*/ 1122744 h 1122744"/>
              <a:gd name="connsiteX4" fmla="*/ 0 w 9144000"/>
              <a:gd name="connsiteY4" fmla="*/ 1122744 h 1122744"/>
              <a:gd name="connsiteX0" fmla="*/ 0 w 9144000"/>
              <a:gd name="connsiteY0" fmla="*/ 1122744 h 1122744"/>
              <a:gd name="connsiteX1" fmla="*/ 14469 w 9144000"/>
              <a:gd name="connsiteY1" fmla="*/ 46299 h 1122744"/>
              <a:gd name="connsiteX2" fmla="*/ 9144000 w 9144000"/>
              <a:gd name="connsiteY2" fmla="*/ 0 h 1122744"/>
              <a:gd name="connsiteX3" fmla="*/ 8689693 w 9144000"/>
              <a:gd name="connsiteY3" fmla="*/ 1122744 h 1122744"/>
              <a:gd name="connsiteX4" fmla="*/ 0 w 9144000"/>
              <a:gd name="connsiteY4" fmla="*/ 1122744 h 1122744"/>
              <a:gd name="connsiteX0" fmla="*/ 0 w 9213448"/>
              <a:gd name="connsiteY0" fmla="*/ 1076445 h 1076445"/>
              <a:gd name="connsiteX1" fmla="*/ 14469 w 9213448"/>
              <a:gd name="connsiteY1" fmla="*/ 0 h 1076445"/>
              <a:gd name="connsiteX2" fmla="*/ 9213448 w 9213448"/>
              <a:gd name="connsiteY2" fmla="*/ 567160 h 1076445"/>
              <a:gd name="connsiteX3" fmla="*/ 8689693 w 9213448"/>
              <a:gd name="connsiteY3" fmla="*/ 1076445 h 1076445"/>
              <a:gd name="connsiteX4" fmla="*/ 0 w 9213448"/>
              <a:gd name="connsiteY4" fmla="*/ 1076445 h 1076445"/>
              <a:gd name="connsiteX0" fmla="*/ 0 w 9213448"/>
              <a:gd name="connsiteY0" fmla="*/ 1076445 h 1076445"/>
              <a:gd name="connsiteX1" fmla="*/ 14469 w 9213448"/>
              <a:gd name="connsiteY1" fmla="*/ 0 h 1076445"/>
              <a:gd name="connsiteX2" fmla="*/ 9213448 w 9213448"/>
              <a:gd name="connsiteY2" fmla="*/ 567160 h 1076445"/>
              <a:gd name="connsiteX3" fmla="*/ 9117956 w 9213448"/>
              <a:gd name="connsiteY3" fmla="*/ 798653 h 1076445"/>
              <a:gd name="connsiteX4" fmla="*/ 0 w 9213448"/>
              <a:gd name="connsiteY4" fmla="*/ 1076445 h 1076445"/>
              <a:gd name="connsiteX0" fmla="*/ 506392 w 9198979"/>
              <a:gd name="connsiteY0" fmla="*/ 451412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506392 w 9198979"/>
              <a:gd name="connsiteY4" fmla="*/ 451412 h 798653"/>
              <a:gd name="connsiteX0" fmla="*/ 8681 w 9198979"/>
              <a:gd name="connsiteY0" fmla="*/ 370390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8681 w 9198979"/>
              <a:gd name="connsiteY4" fmla="*/ 370390 h 798653"/>
              <a:gd name="connsiteX0" fmla="*/ 8681 w 9198979"/>
              <a:gd name="connsiteY0" fmla="*/ 370390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8681 w 9198979"/>
              <a:gd name="connsiteY4" fmla="*/ 370390 h 798653"/>
              <a:gd name="connsiteX0" fmla="*/ 8681 w 9198979"/>
              <a:gd name="connsiteY0" fmla="*/ 370390 h 965794"/>
              <a:gd name="connsiteX1" fmla="*/ 0 w 9198979"/>
              <a:gd name="connsiteY1" fmla="*/ 0 h 965794"/>
              <a:gd name="connsiteX2" fmla="*/ 9198979 w 9198979"/>
              <a:gd name="connsiteY2" fmla="*/ 567160 h 965794"/>
              <a:gd name="connsiteX3" fmla="*/ 9103487 w 9198979"/>
              <a:gd name="connsiteY3" fmla="*/ 798653 h 965794"/>
              <a:gd name="connsiteX4" fmla="*/ 8681 w 9198979"/>
              <a:gd name="connsiteY4" fmla="*/ 370390 h 965794"/>
              <a:gd name="connsiteX0" fmla="*/ 43405 w 9233703"/>
              <a:gd name="connsiteY0" fmla="*/ 370390 h 965794"/>
              <a:gd name="connsiteX1" fmla="*/ 0 w 9233703"/>
              <a:gd name="connsiteY1" fmla="*/ 0 h 965794"/>
              <a:gd name="connsiteX2" fmla="*/ 9233703 w 9233703"/>
              <a:gd name="connsiteY2" fmla="*/ 567160 h 965794"/>
              <a:gd name="connsiteX3" fmla="*/ 9138211 w 9233703"/>
              <a:gd name="connsiteY3" fmla="*/ 798653 h 965794"/>
              <a:gd name="connsiteX4" fmla="*/ 43405 w 9233703"/>
              <a:gd name="connsiteY4" fmla="*/ 370390 h 965794"/>
              <a:gd name="connsiteX0" fmla="*/ 0 w 9248171"/>
              <a:gd name="connsiteY0" fmla="*/ 347241 h 959022"/>
              <a:gd name="connsiteX1" fmla="*/ 14468 w 9248171"/>
              <a:gd name="connsiteY1" fmla="*/ 0 h 959022"/>
              <a:gd name="connsiteX2" fmla="*/ 9248171 w 9248171"/>
              <a:gd name="connsiteY2" fmla="*/ 567160 h 959022"/>
              <a:gd name="connsiteX3" fmla="*/ 9152679 w 9248171"/>
              <a:gd name="connsiteY3" fmla="*/ 798653 h 959022"/>
              <a:gd name="connsiteX4" fmla="*/ 0 w 9248171"/>
              <a:gd name="connsiteY4" fmla="*/ 347241 h 959022"/>
              <a:gd name="connsiteX0" fmla="*/ 0 w 9248171"/>
              <a:gd name="connsiteY0" fmla="*/ 347241 h 926654"/>
              <a:gd name="connsiteX1" fmla="*/ 14468 w 9248171"/>
              <a:gd name="connsiteY1" fmla="*/ 0 h 926654"/>
              <a:gd name="connsiteX2" fmla="*/ 9248171 w 9248171"/>
              <a:gd name="connsiteY2" fmla="*/ 567160 h 926654"/>
              <a:gd name="connsiteX3" fmla="*/ 9246331 w 9248171"/>
              <a:gd name="connsiteY3" fmla="*/ 752354 h 926654"/>
              <a:gd name="connsiteX4" fmla="*/ 0 w 9248171"/>
              <a:gd name="connsiteY4" fmla="*/ 347241 h 926654"/>
              <a:gd name="connsiteX0" fmla="*/ 0 w 9248171"/>
              <a:gd name="connsiteY0" fmla="*/ 347241 h 1495889"/>
              <a:gd name="connsiteX1" fmla="*/ 14468 w 9248171"/>
              <a:gd name="connsiteY1" fmla="*/ 0 h 1495889"/>
              <a:gd name="connsiteX2" fmla="*/ 9248171 w 9248171"/>
              <a:gd name="connsiteY2" fmla="*/ 567160 h 1495889"/>
              <a:gd name="connsiteX3" fmla="*/ 9246331 w 9248171"/>
              <a:gd name="connsiteY3" fmla="*/ 752354 h 1495889"/>
              <a:gd name="connsiteX4" fmla="*/ 0 w 9248171"/>
              <a:gd name="connsiteY4" fmla="*/ 347241 h 1495889"/>
              <a:gd name="connsiteX0" fmla="*/ 0 w 9248171"/>
              <a:gd name="connsiteY0" fmla="*/ 347241 h 1028728"/>
              <a:gd name="connsiteX1" fmla="*/ 14468 w 9248171"/>
              <a:gd name="connsiteY1" fmla="*/ 0 h 1028728"/>
              <a:gd name="connsiteX2" fmla="*/ 9248171 w 9248171"/>
              <a:gd name="connsiteY2" fmla="*/ 567160 h 1028728"/>
              <a:gd name="connsiteX3" fmla="*/ 9246331 w 9248171"/>
              <a:gd name="connsiteY3" fmla="*/ 752354 h 1028728"/>
              <a:gd name="connsiteX4" fmla="*/ 0 w 9248171"/>
              <a:gd name="connsiteY4" fmla="*/ 347241 h 1028728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970325"/>
              <a:gd name="connsiteX1" fmla="*/ 14468 w 9248171"/>
              <a:gd name="connsiteY1" fmla="*/ 0 h 970325"/>
              <a:gd name="connsiteX2" fmla="*/ 9248171 w 9248171"/>
              <a:gd name="connsiteY2" fmla="*/ 567160 h 970325"/>
              <a:gd name="connsiteX3" fmla="*/ 9246331 w 9248171"/>
              <a:gd name="connsiteY3" fmla="*/ 706055 h 970325"/>
              <a:gd name="connsiteX4" fmla="*/ 0 w 9248171"/>
              <a:gd name="connsiteY4" fmla="*/ 347241 h 970325"/>
              <a:gd name="connsiteX0" fmla="*/ 0 w 9248171"/>
              <a:gd name="connsiteY0" fmla="*/ 358816 h 981900"/>
              <a:gd name="connsiteX1" fmla="*/ 2762 w 9248171"/>
              <a:gd name="connsiteY1" fmla="*/ 0 h 981900"/>
              <a:gd name="connsiteX2" fmla="*/ 9248171 w 9248171"/>
              <a:gd name="connsiteY2" fmla="*/ 578735 h 981900"/>
              <a:gd name="connsiteX3" fmla="*/ 9246331 w 9248171"/>
              <a:gd name="connsiteY3" fmla="*/ 717630 h 981900"/>
              <a:gd name="connsiteX4" fmla="*/ 0 w 9248171"/>
              <a:gd name="connsiteY4" fmla="*/ 358816 h 98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48171" h="981900">
                <a:moveTo>
                  <a:pt x="0" y="358816"/>
                </a:moveTo>
                <a:cubicBezTo>
                  <a:pt x="921" y="239211"/>
                  <a:pt x="1841" y="119605"/>
                  <a:pt x="2762" y="0"/>
                </a:cubicBezTo>
                <a:cubicBezTo>
                  <a:pt x="3935241" y="987707"/>
                  <a:pt x="7258979" y="875819"/>
                  <a:pt x="9248171" y="578735"/>
                </a:cubicBezTo>
                <a:cubicBezTo>
                  <a:pt x="9247558" y="640466"/>
                  <a:pt x="9246944" y="655899"/>
                  <a:pt x="9246331" y="717630"/>
                </a:cubicBezTo>
                <a:cubicBezTo>
                  <a:pt x="5712928" y="1246208"/>
                  <a:pt x="2407095" y="906684"/>
                  <a:pt x="0" y="3588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2815" tIns="121408" rIns="242815" bIns="121408" spcCol="0"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245972" y="3089295"/>
            <a:ext cx="21899880" cy="429782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15000"/>
              </a:lnSpc>
              <a:defRPr sz="9600" b="1" i="0" spc="-150" baseline="0">
                <a:solidFill>
                  <a:schemeClr val="bg1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0898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 userDrawn="1">
  <p:cSld name="title +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13005319" y="0"/>
            <a:ext cx="10470089" cy="13717588"/>
          </a:xfrm>
          <a:custGeom>
            <a:avLst/>
            <a:gdLst/>
            <a:ahLst/>
            <a:cxnLst/>
            <a:rect l="l" t="t" r="r" b="b"/>
            <a:pathLst>
              <a:path w="5030470" h="6845300">
                <a:moveTo>
                  <a:pt x="4999542" y="0"/>
                </a:moveTo>
                <a:lnTo>
                  <a:pt x="3710109" y="0"/>
                </a:lnTo>
                <a:lnTo>
                  <a:pt x="3709901" y="38100"/>
                </a:lnTo>
                <a:lnTo>
                  <a:pt x="3709485" y="76200"/>
                </a:lnTo>
                <a:lnTo>
                  <a:pt x="3708856" y="114300"/>
                </a:lnTo>
                <a:lnTo>
                  <a:pt x="3708010" y="152400"/>
                </a:lnTo>
                <a:lnTo>
                  <a:pt x="3706944" y="190500"/>
                </a:lnTo>
                <a:lnTo>
                  <a:pt x="3705652" y="228600"/>
                </a:lnTo>
                <a:lnTo>
                  <a:pt x="3704132" y="279400"/>
                </a:lnTo>
                <a:lnTo>
                  <a:pt x="3702379" y="317500"/>
                </a:lnTo>
                <a:lnTo>
                  <a:pt x="3700388" y="355600"/>
                </a:lnTo>
                <a:lnTo>
                  <a:pt x="3698157" y="393700"/>
                </a:lnTo>
                <a:lnTo>
                  <a:pt x="3695680" y="444500"/>
                </a:lnTo>
                <a:lnTo>
                  <a:pt x="3692954" y="482600"/>
                </a:lnTo>
                <a:lnTo>
                  <a:pt x="3689975" y="520700"/>
                </a:lnTo>
                <a:lnTo>
                  <a:pt x="3686738" y="571500"/>
                </a:lnTo>
                <a:lnTo>
                  <a:pt x="3683240" y="609600"/>
                </a:lnTo>
                <a:lnTo>
                  <a:pt x="3679477" y="660400"/>
                </a:lnTo>
                <a:lnTo>
                  <a:pt x="3675443" y="698500"/>
                </a:lnTo>
                <a:lnTo>
                  <a:pt x="3671136" y="749300"/>
                </a:lnTo>
                <a:lnTo>
                  <a:pt x="3666552" y="787400"/>
                </a:lnTo>
                <a:lnTo>
                  <a:pt x="3661685" y="838200"/>
                </a:lnTo>
                <a:lnTo>
                  <a:pt x="3656533" y="876300"/>
                </a:lnTo>
                <a:lnTo>
                  <a:pt x="3651091" y="927100"/>
                </a:lnTo>
                <a:lnTo>
                  <a:pt x="3645354" y="965200"/>
                </a:lnTo>
                <a:lnTo>
                  <a:pt x="3639320" y="1016000"/>
                </a:lnTo>
                <a:lnTo>
                  <a:pt x="3632983" y="1066800"/>
                </a:lnTo>
                <a:lnTo>
                  <a:pt x="3626341" y="1104900"/>
                </a:lnTo>
                <a:lnTo>
                  <a:pt x="3619388" y="1155700"/>
                </a:lnTo>
                <a:lnTo>
                  <a:pt x="3612120" y="1206500"/>
                </a:lnTo>
                <a:lnTo>
                  <a:pt x="3604534" y="1244600"/>
                </a:lnTo>
                <a:lnTo>
                  <a:pt x="3596626" y="1295400"/>
                </a:lnTo>
                <a:lnTo>
                  <a:pt x="3588391" y="1346200"/>
                </a:lnTo>
                <a:lnTo>
                  <a:pt x="3579826" y="1397000"/>
                </a:lnTo>
                <a:lnTo>
                  <a:pt x="3570926" y="1435100"/>
                </a:lnTo>
                <a:lnTo>
                  <a:pt x="3561687" y="1485900"/>
                </a:lnTo>
                <a:lnTo>
                  <a:pt x="3552105" y="1536700"/>
                </a:lnTo>
                <a:lnTo>
                  <a:pt x="3542177" y="1587500"/>
                </a:lnTo>
                <a:lnTo>
                  <a:pt x="3531897" y="1638300"/>
                </a:lnTo>
                <a:lnTo>
                  <a:pt x="3521263" y="1689100"/>
                </a:lnTo>
                <a:lnTo>
                  <a:pt x="3510269" y="1739900"/>
                </a:lnTo>
                <a:lnTo>
                  <a:pt x="3498912" y="1778000"/>
                </a:lnTo>
                <a:lnTo>
                  <a:pt x="3487188" y="1828800"/>
                </a:lnTo>
                <a:lnTo>
                  <a:pt x="3475093" y="1879600"/>
                </a:lnTo>
                <a:lnTo>
                  <a:pt x="3462623" y="1930400"/>
                </a:lnTo>
                <a:lnTo>
                  <a:pt x="3449773" y="1981200"/>
                </a:lnTo>
                <a:lnTo>
                  <a:pt x="3436539" y="2032000"/>
                </a:lnTo>
                <a:lnTo>
                  <a:pt x="3422918" y="2082800"/>
                </a:lnTo>
                <a:lnTo>
                  <a:pt x="3408905" y="2146300"/>
                </a:lnTo>
                <a:lnTo>
                  <a:pt x="3394497" y="2197100"/>
                </a:lnTo>
                <a:lnTo>
                  <a:pt x="3379689" y="2247900"/>
                </a:lnTo>
                <a:lnTo>
                  <a:pt x="3364477" y="2298700"/>
                </a:lnTo>
                <a:lnTo>
                  <a:pt x="3348857" y="2349500"/>
                </a:lnTo>
                <a:lnTo>
                  <a:pt x="3332825" y="2400300"/>
                </a:lnTo>
                <a:lnTo>
                  <a:pt x="3316377" y="2451100"/>
                </a:lnTo>
                <a:lnTo>
                  <a:pt x="3299509" y="2514600"/>
                </a:lnTo>
                <a:lnTo>
                  <a:pt x="3282217" y="2565400"/>
                </a:lnTo>
                <a:lnTo>
                  <a:pt x="3264497" y="2616200"/>
                </a:lnTo>
                <a:lnTo>
                  <a:pt x="3246344" y="2667000"/>
                </a:lnTo>
                <a:lnTo>
                  <a:pt x="3227755" y="2717800"/>
                </a:lnTo>
                <a:lnTo>
                  <a:pt x="3208725" y="2781300"/>
                </a:lnTo>
                <a:lnTo>
                  <a:pt x="3189252" y="2832100"/>
                </a:lnTo>
                <a:lnTo>
                  <a:pt x="3169329" y="2882900"/>
                </a:lnTo>
                <a:lnTo>
                  <a:pt x="3148954" y="2946400"/>
                </a:lnTo>
                <a:lnTo>
                  <a:pt x="3128122" y="2997200"/>
                </a:lnTo>
                <a:lnTo>
                  <a:pt x="3106829" y="3048000"/>
                </a:lnTo>
                <a:lnTo>
                  <a:pt x="3085072" y="3111500"/>
                </a:lnTo>
                <a:lnTo>
                  <a:pt x="3062846" y="3162300"/>
                </a:lnTo>
                <a:lnTo>
                  <a:pt x="3040146" y="3225800"/>
                </a:lnTo>
                <a:lnTo>
                  <a:pt x="3016970" y="3276600"/>
                </a:lnTo>
                <a:lnTo>
                  <a:pt x="2993312" y="3327400"/>
                </a:lnTo>
                <a:lnTo>
                  <a:pt x="2969170" y="3390900"/>
                </a:lnTo>
                <a:lnTo>
                  <a:pt x="2944538" y="3441700"/>
                </a:lnTo>
                <a:lnTo>
                  <a:pt x="2919412" y="3505200"/>
                </a:lnTo>
                <a:lnTo>
                  <a:pt x="2893790" y="3556000"/>
                </a:lnTo>
                <a:lnTo>
                  <a:pt x="2867666" y="3619500"/>
                </a:lnTo>
                <a:lnTo>
                  <a:pt x="2842302" y="3670300"/>
                </a:lnTo>
                <a:lnTo>
                  <a:pt x="2816708" y="3721100"/>
                </a:lnTo>
                <a:lnTo>
                  <a:pt x="2790887" y="3784600"/>
                </a:lnTo>
                <a:lnTo>
                  <a:pt x="2764841" y="3835400"/>
                </a:lnTo>
                <a:lnTo>
                  <a:pt x="2738572" y="3886200"/>
                </a:lnTo>
                <a:lnTo>
                  <a:pt x="2712083" y="3937000"/>
                </a:lnTo>
                <a:lnTo>
                  <a:pt x="2685376" y="3987800"/>
                </a:lnTo>
                <a:lnTo>
                  <a:pt x="2658452" y="4038600"/>
                </a:lnTo>
                <a:lnTo>
                  <a:pt x="2631315" y="4089400"/>
                </a:lnTo>
                <a:lnTo>
                  <a:pt x="2603965" y="4140200"/>
                </a:lnTo>
                <a:lnTo>
                  <a:pt x="2576406" y="4191000"/>
                </a:lnTo>
                <a:lnTo>
                  <a:pt x="2548640" y="4241800"/>
                </a:lnTo>
                <a:lnTo>
                  <a:pt x="2520669" y="4292600"/>
                </a:lnTo>
                <a:lnTo>
                  <a:pt x="2492495" y="4343400"/>
                </a:lnTo>
                <a:lnTo>
                  <a:pt x="2464121" y="4394200"/>
                </a:lnTo>
                <a:lnTo>
                  <a:pt x="2435548" y="4432300"/>
                </a:lnTo>
                <a:lnTo>
                  <a:pt x="2406778" y="4483100"/>
                </a:lnTo>
                <a:lnTo>
                  <a:pt x="2377815" y="4533900"/>
                </a:lnTo>
                <a:lnTo>
                  <a:pt x="2348660" y="4584700"/>
                </a:lnTo>
                <a:lnTo>
                  <a:pt x="2319315" y="4622800"/>
                </a:lnTo>
                <a:lnTo>
                  <a:pt x="2289783" y="4673600"/>
                </a:lnTo>
                <a:lnTo>
                  <a:pt x="2260065" y="4711700"/>
                </a:lnTo>
                <a:lnTo>
                  <a:pt x="2230165" y="4762500"/>
                </a:lnTo>
                <a:lnTo>
                  <a:pt x="2200084" y="4800600"/>
                </a:lnTo>
                <a:lnTo>
                  <a:pt x="2169824" y="4851400"/>
                </a:lnTo>
                <a:lnTo>
                  <a:pt x="2139388" y="4889500"/>
                </a:lnTo>
                <a:lnTo>
                  <a:pt x="2108778" y="4940300"/>
                </a:lnTo>
                <a:lnTo>
                  <a:pt x="2047044" y="5016500"/>
                </a:lnTo>
                <a:lnTo>
                  <a:pt x="2015924" y="5067300"/>
                </a:lnTo>
                <a:lnTo>
                  <a:pt x="1953192" y="5143500"/>
                </a:lnTo>
                <a:lnTo>
                  <a:pt x="1857892" y="5257800"/>
                </a:lnTo>
                <a:lnTo>
                  <a:pt x="1825814" y="5308600"/>
                </a:lnTo>
                <a:lnTo>
                  <a:pt x="1728676" y="5422900"/>
                </a:lnTo>
                <a:lnTo>
                  <a:pt x="1630230" y="5537200"/>
                </a:lnTo>
                <a:lnTo>
                  <a:pt x="1597134" y="5562600"/>
                </a:lnTo>
                <a:lnTo>
                  <a:pt x="1463406" y="5715000"/>
                </a:lnTo>
                <a:lnTo>
                  <a:pt x="1429649" y="5740400"/>
                </a:lnTo>
                <a:lnTo>
                  <a:pt x="1361762" y="5816600"/>
                </a:lnTo>
                <a:lnTo>
                  <a:pt x="1327635" y="5842000"/>
                </a:lnTo>
                <a:lnTo>
                  <a:pt x="1259027" y="5918200"/>
                </a:lnTo>
                <a:lnTo>
                  <a:pt x="1224550" y="5943600"/>
                </a:lnTo>
                <a:lnTo>
                  <a:pt x="1189961" y="5981700"/>
                </a:lnTo>
                <a:lnTo>
                  <a:pt x="1155262" y="6007100"/>
                </a:lnTo>
                <a:lnTo>
                  <a:pt x="1120455" y="6045200"/>
                </a:lnTo>
                <a:lnTo>
                  <a:pt x="1050526" y="6096000"/>
                </a:lnTo>
                <a:lnTo>
                  <a:pt x="1015409" y="6134100"/>
                </a:lnTo>
                <a:lnTo>
                  <a:pt x="980193" y="6159500"/>
                </a:lnTo>
                <a:lnTo>
                  <a:pt x="944879" y="6197600"/>
                </a:lnTo>
                <a:lnTo>
                  <a:pt x="838381" y="6273800"/>
                </a:lnTo>
                <a:lnTo>
                  <a:pt x="802703" y="6311900"/>
                </a:lnTo>
                <a:lnTo>
                  <a:pt x="586910" y="6464300"/>
                </a:lnTo>
                <a:lnTo>
                  <a:pt x="550678" y="6502400"/>
                </a:lnTo>
                <a:lnTo>
                  <a:pt x="405069" y="6604000"/>
                </a:lnTo>
                <a:lnTo>
                  <a:pt x="368507" y="6616700"/>
                </a:lnTo>
                <a:lnTo>
                  <a:pt x="147972" y="6769100"/>
                </a:lnTo>
                <a:lnTo>
                  <a:pt x="111042" y="6781800"/>
                </a:lnTo>
                <a:lnTo>
                  <a:pt x="37054" y="6832600"/>
                </a:lnTo>
                <a:lnTo>
                  <a:pt x="0" y="6845300"/>
                </a:lnTo>
                <a:lnTo>
                  <a:pt x="3668608" y="6845300"/>
                </a:lnTo>
                <a:lnTo>
                  <a:pt x="3694702" y="6794500"/>
                </a:lnTo>
                <a:lnTo>
                  <a:pt x="3720487" y="6731000"/>
                </a:lnTo>
                <a:lnTo>
                  <a:pt x="3745963" y="6667500"/>
                </a:lnTo>
                <a:lnTo>
                  <a:pt x="3771132" y="6616700"/>
                </a:lnTo>
                <a:lnTo>
                  <a:pt x="3795997" y="6553200"/>
                </a:lnTo>
                <a:lnTo>
                  <a:pt x="3820557" y="6489700"/>
                </a:lnTo>
                <a:lnTo>
                  <a:pt x="3844814" y="6426200"/>
                </a:lnTo>
                <a:lnTo>
                  <a:pt x="3868771" y="6375400"/>
                </a:lnTo>
                <a:lnTo>
                  <a:pt x="3892428" y="6311900"/>
                </a:lnTo>
                <a:lnTo>
                  <a:pt x="3915787" y="6248400"/>
                </a:lnTo>
                <a:lnTo>
                  <a:pt x="3938849" y="6197600"/>
                </a:lnTo>
                <a:lnTo>
                  <a:pt x="3961615" y="6134100"/>
                </a:lnTo>
                <a:lnTo>
                  <a:pt x="3984088" y="6070600"/>
                </a:lnTo>
                <a:lnTo>
                  <a:pt x="4006268" y="6007100"/>
                </a:lnTo>
                <a:lnTo>
                  <a:pt x="4028158" y="5956300"/>
                </a:lnTo>
                <a:lnTo>
                  <a:pt x="4049757" y="5892800"/>
                </a:lnTo>
                <a:lnTo>
                  <a:pt x="4071069" y="5829300"/>
                </a:lnTo>
                <a:lnTo>
                  <a:pt x="4092093" y="5765800"/>
                </a:lnTo>
                <a:lnTo>
                  <a:pt x="4112833" y="5715000"/>
                </a:lnTo>
                <a:lnTo>
                  <a:pt x="4133288" y="5651500"/>
                </a:lnTo>
                <a:lnTo>
                  <a:pt x="4153461" y="5588000"/>
                </a:lnTo>
                <a:lnTo>
                  <a:pt x="4173353" y="5537200"/>
                </a:lnTo>
                <a:lnTo>
                  <a:pt x="4192966" y="5473700"/>
                </a:lnTo>
                <a:lnTo>
                  <a:pt x="4212300" y="5410200"/>
                </a:lnTo>
                <a:lnTo>
                  <a:pt x="4231357" y="5359400"/>
                </a:lnTo>
                <a:lnTo>
                  <a:pt x="4250140" y="5295900"/>
                </a:lnTo>
                <a:lnTo>
                  <a:pt x="4268648" y="5232400"/>
                </a:lnTo>
                <a:lnTo>
                  <a:pt x="4286884" y="5181600"/>
                </a:lnTo>
                <a:lnTo>
                  <a:pt x="4304849" y="5118100"/>
                </a:lnTo>
                <a:lnTo>
                  <a:pt x="4322544" y="5067300"/>
                </a:lnTo>
                <a:lnTo>
                  <a:pt x="4339971" y="5003800"/>
                </a:lnTo>
                <a:lnTo>
                  <a:pt x="4357132" y="4940300"/>
                </a:lnTo>
                <a:lnTo>
                  <a:pt x="4374027" y="4889500"/>
                </a:lnTo>
                <a:lnTo>
                  <a:pt x="4390659" y="4826000"/>
                </a:lnTo>
                <a:lnTo>
                  <a:pt x="4407028" y="4775200"/>
                </a:lnTo>
                <a:lnTo>
                  <a:pt x="4423136" y="4711700"/>
                </a:lnTo>
                <a:lnTo>
                  <a:pt x="4438985" y="4660900"/>
                </a:lnTo>
                <a:lnTo>
                  <a:pt x="4454575" y="4597400"/>
                </a:lnTo>
                <a:lnTo>
                  <a:pt x="4469909" y="4546600"/>
                </a:lnTo>
                <a:lnTo>
                  <a:pt x="4484987" y="4483100"/>
                </a:lnTo>
                <a:lnTo>
                  <a:pt x="4499812" y="4432300"/>
                </a:lnTo>
                <a:lnTo>
                  <a:pt x="4514384" y="4381500"/>
                </a:lnTo>
                <a:lnTo>
                  <a:pt x="4528706" y="4318000"/>
                </a:lnTo>
                <a:lnTo>
                  <a:pt x="4542778" y="4267200"/>
                </a:lnTo>
                <a:lnTo>
                  <a:pt x="4556602" y="4216400"/>
                </a:lnTo>
                <a:lnTo>
                  <a:pt x="4570179" y="4152900"/>
                </a:lnTo>
                <a:lnTo>
                  <a:pt x="4583511" y="4102100"/>
                </a:lnTo>
                <a:lnTo>
                  <a:pt x="4596599" y="4051300"/>
                </a:lnTo>
                <a:lnTo>
                  <a:pt x="4609445" y="3987800"/>
                </a:lnTo>
                <a:lnTo>
                  <a:pt x="4622050" y="3937000"/>
                </a:lnTo>
                <a:lnTo>
                  <a:pt x="4634416" y="3886200"/>
                </a:lnTo>
                <a:lnTo>
                  <a:pt x="4646543" y="3835400"/>
                </a:lnTo>
                <a:lnTo>
                  <a:pt x="4658434" y="3784600"/>
                </a:lnTo>
                <a:lnTo>
                  <a:pt x="4670090" y="3733800"/>
                </a:lnTo>
                <a:lnTo>
                  <a:pt x="4681512" y="3683000"/>
                </a:lnTo>
                <a:lnTo>
                  <a:pt x="4692701" y="3619500"/>
                </a:lnTo>
                <a:lnTo>
                  <a:pt x="4703660" y="3568700"/>
                </a:lnTo>
                <a:lnTo>
                  <a:pt x="4714389" y="3517900"/>
                </a:lnTo>
                <a:lnTo>
                  <a:pt x="4724890" y="3467100"/>
                </a:lnTo>
                <a:lnTo>
                  <a:pt x="4735165" y="3429000"/>
                </a:lnTo>
                <a:lnTo>
                  <a:pt x="4745214" y="3378200"/>
                </a:lnTo>
                <a:lnTo>
                  <a:pt x="4755040" y="3327400"/>
                </a:lnTo>
                <a:lnTo>
                  <a:pt x="4764644" y="3276600"/>
                </a:lnTo>
                <a:lnTo>
                  <a:pt x="4774026" y="3225800"/>
                </a:lnTo>
                <a:lnTo>
                  <a:pt x="4783190" y="3175000"/>
                </a:lnTo>
                <a:lnTo>
                  <a:pt x="4792135" y="3136900"/>
                </a:lnTo>
                <a:lnTo>
                  <a:pt x="4800863" y="3086100"/>
                </a:lnTo>
                <a:lnTo>
                  <a:pt x="4809377" y="3035300"/>
                </a:lnTo>
                <a:lnTo>
                  <a:pt x="4817677" y="2997200"/>
                </a:lnTo>
                <a:lnTo>
                  <a:pt x="4825764" y="2946400"/>
                </a:lnTo>
                <a:lnTo>
                  <a:pt x="4833641" y="2895600"/>
                </a:lnTo>
                <a:lnTo>
                  <a:pt x="4841308" y="2857500"/>
                </a:lnTo>
                <a:lnTo>
                  <a:pt x="4848768" y="2806700"/>
                </a:lnTo>
                <a:lnTo>
                  <a:pt x="4856021" y="2768600"/>
                </a:lnTo>
                <a:lnTo>
                  <a:pt x="4863068" y="2730500"/>
                </a:lnTo>
                <a:lnTo>
                  <a:pt x="4869912" y="2679700"/>
                </a:lnTo>
                <a:lnTo>
                  <a:pt x="4876554" y="2641600"/>
                </a:lnTo>
                <a:lnTo>
                  <a:pt x="4882995" y="2603500"/>
                </a:lnTo>
                <a:lnTo>
                  <a:pt x="4889237" y="2552700"/>
                </a:lnTo>
                <a:lnTo>
                  <a:pt x="4895281" y="2514600"/>
                </a:lnTo>
                <a:lnTo>
                  <a:pt x="4901128" y="2476500"/>
                </a:lnTo>
                <a:lnTo>
                  <a:pt x="4906780" y="2438400"/>
                </a:lnTo>
                <a:lnTo>
                  <a:pt x="4912239" y="2400300"/>
                </a:lnTo>
                <a:lnTo>
                  <a:pt x="4917505" y="2362200"/>
                </a:lnTo>
                <a:lnTo>
                  <a:pt x="4922580" y="2324100"/>
                </a:lnTo>
                <a:lnTo>
                  <a:pt x="4927467" y="2286000"/>
                </a:lnTo>
                <a:lnTo>
                  <a:pt x="4932165" y="2247900"/>
                </a:lnTo>
                <a:lnTo>
                  <a:pt x="4936677" y="2209800"/>
                </a:lnTo>
                <a:lnTo>
                  <a:pt x="4941003" y="2184400"/>
                </a:lnTo>
                <a:lnTo>
                  <a:pt x="4945146" y="2146300"/>
                </a:lnTo>
                <a:lnTo>
                  <a:pt x="4949107" y="2108200"/>
                </a:lnTo>
                <a:lnTo>
                  <a:pt x="4952888" y="2082800"/>
                </a:lnTo>
                <a:lnTo>
                  <a:pt x="4956488" y="2044700"/>
                </a:lnTo>
                <a:lnTo>
                  <a:pt x="4959911" y="2006600"/>
                </a:lnTo>
                <a:lnTo>
                  <a:pt x="4963158" y="1981200"/>
                </a:lnTo>
                <a:lnTo>
                  <a:pt x="4966229" y="1955800"/>
                </a:lnTo>
                <a:lnTo>
                  <a:pt x="4969127" y="1917700"/>
                </a:lnTo>
                <a:lnTo>
                  <a:pt x="4971853" y="1892300"/>
                </a:lnTo>
                <a:lnTo>
                  <a:pt x="4974408" y="1866900"/>
                </a:lnTo>
                <a:lnTo>
                  <a:pt x="4976794" y="1841500"/>
                </a:lnTo>
                <a:lnTo>
                  <a:pt x="4979012" y="1803400"/>
                </a:lnTo>
                <a:lnTo>
                  <a:pt x="4981063" y="1778000"/>
                </a:lnTo>
                <a:lnTo>
                  <a:pt x="4982950" y="1752600"/>
                </a:lnTo>
                <a:lnTo>
                  <a:pt x="4984673" y="1727200"/>
                </a:lnTo>
                <a:lnTo>
                  <a:pt x="4986234" y="1701800"/>
                </a:lnTo>
                <a:lnTo>
                  <a:pt x="4987634" y="1689100"/>
                </a:lnTo>
                <a:lnTo>
                  <a:pt x="5000295" y="1536700"/>
                </a:lnTo>
                <a:lnTo>
                  <a:pt x="5022389" y="1168400"/>
                </a:lnTo>
                <a:lnTo>
                  <a:pt x="5030083" y="622300"/>
                </a:lnTo>
                <a:lnTo>
                  <a:pt x="4999542" y="0"/>
                </a:lnTo>
                <a:close/>
              </a:path>
            </a:pathLst>
          </a:custGeom>
          <a:solidFill>
            <a:srgbClr val="0147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243913" y="1172497"/>
            <a:ext cx="17540182" cy="1417321"/>
          </a:xfrm>
          <a:prstGeom prst="rect">
            <a:avLst/>
          </a:prstGeom>
        </p:spPr>
        <p:txBody>
          <a:bodyPr/>
          <a:lstStyle>
            <a:lvl1pPr>
              <a:defRPr sz="6600" b="0" i="0">
                <a:solidFill>
                  <a:srgbClr val="01474D"/>
                </a:solidFill>
                <a:latin typeface="Avenir Medium" panose="02000503020000020003" pitchFamily="2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783A3C3-0AE3-A44A-BC18-C020A7B512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00" y="3126659"/>
            <a:ext cx="17576800" cy="8760542"/>
          </a:xfrm>
          <a:prstGeom prst="rect">
            <a:avLst/>
          </a:prstGeom>
        </p:spPr>
        <p:txBody>
          <a:bodyPr/>
          <a:lstStyle>
            <a:lvl1pPr>
              <a:defRPr lang="en-US" sz="4800" dirty="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444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588795" y="-1122"/>
            <a:ext cx="14534150" cy="13705312"/>
          </a:xfrm>
          <a:custGeom>
            <a:avLst/>
            <a:gdLst>
              <a:gd name="connsiteX0" fmla="*/ 0 w 2360612"/>
              <a:gd name="connsiteY0" fmla="*/ 0 h 1874837"/>
              <a:gd name="connsiteX1" fmla="*/ 2360612 w 2360612"/>
              <a:gd name="connsiteY1" fmla="*/ 0 h 1874837"/>
              <a:gd name="connsiteX2" fmla="*/ 2360612 w 2360612"/>
              <a:gd name="connsiteY2" fmla="*/ 1874837 h 1874837"/>
              <a:gd name="connsiteX3" fmla="*/ 0 w 2360612"/>
              <a:gd name="connsiteY3" fmla="*/ 1874837 h 1874837"/>
              <a:gd name="connsiteX4" fmla="*/ 0 w 2360612"/>
              <a:gd name="connsiteY4" fmla="*/ 0 h 1874837"/>
              <a:gd name="connsiteX0" fmla="*/ 810227 w 2360612"/>
              <a:gd name="connsiteY0" fmla="*/ 0 h 3356396"/>
              <a:gd name="connsiteX1" fmla="*/ 2360612 w 2360612"/>
              <a:gd name="connsiteY1" fmla="*/ 1481559 h 3356396"/>
              <a:gd name="connsiteX2" fmla="*/ 2360612 w 2360612"/>
              <a:gd name="connsiteY2" fmla="*/ 3356396 h 3356396"/>
              <a:gd name="connsiteX3" fmla="*/ 0 w 2360612"/>
              <a:gd name="connsiteY3" fmla="*/ 3356396 h 3356396"/>
              <a:gd name="connsiteX4" fmla="*/ 810227 w 2360612"/>
              <a:gd name="connsiteY4" fmla="*/ 0 h 3356396"/>
              <a:gd name="connsiteX0" fmla="*/ 810227 w 3020369"/>
              <a:gd name="connsiteY0" fmla="*/ 0 h 3356396"/>
              <a:gd name="connsiteX1" fmla="*/ 3020369 w 3020369"/>
              <a:gd name="connsiteY1" fmla="*/ 0 h 3356396"/>
              <a:gd name="connsiteX2" fmla="*/ 2360612 w 3020369"/>
              <a:gd name="connsiteY2" fmla="*/ 3356396 h 3356396"/>
              <a:gd name="connsiteX3" fmla="*/ 0 w 3020369"/>
              <a:gd name="connsiteY3" fmla="*/ 3356396 h 3356396"/>
              <a:gd name="connsiteX4" fmla="*/ 810227 w 3020369"/>
              <a:gd name="connsiteY4" fmla="*/ 0 h 3356396"/>
              <a:gd name="connsiteX0" fmla="*/ 810227 w 3020369"/>
              <a:gd name="connsiteY0" fmla="*/ 0 h 5138897"/>
              <a:gd name="connsiteX1" fmla="*/ 3020369 w 3020369"/>
              <a:gd name="connsiteY1" fmla="*/ 0 h 5138897"/>
              <a:gd name="connsiteX2" fmla="*/ 2545807 w 3020369"/>
              <a:gd name="connsiteY2" fmla="*/ 5138897 h 5138897"/>
              <a:gd name="connsiteX3" fmla="*/ 0 w 3020369"/>
              <a:gd name="connsiteY3" fmla="*/ 3356396 h 5138897"/>
              <a:gd name="connsiteX4" fmla="*/ 810227 w 3020369"/>
              <a:gd name="connsiteY4" fmla="*/ 0 h 5138897"/>
              <a:gd name="connsiteX0" fmla="*/ 3171462 w 5381604"/>
              <a:gd name="connsiteY0" fmla="*/ 0 h 5138897"/>
              <a:gd name="connsiteX1" fmla="*/ 5381604 w 5381604"/>
              <a:gd name="connsiteY1" fmla="*/ 0 h 5138897"/>
              <a:gd name="connsiteX2" fmla="*/ 4907042 w 5381604"/>
              <a:gd name="connsiteY2" fmla="*/ 5138897 h 5138897"/>
              <a:gd name="connsiteX3" fmla="*/ 0 w 5381604"/>
              <a:gd name="connsiteY3" fmla="*/ 5138897 h 5138897"/>
              <a:gd name="connsiteX4" fmla="*/ 3171462 w 5381604"/>
              <a:gd name="connsiteY4" fmla="*/ 0 h 5138897"/>
              <a:gd name="connsiteX0" fmla="*/ 3171462 w 5381604"/>
              <a:gd name="connsiteY0" fmla="*/ 0 h 5138897"/>
              <a:gd name="connsiteX1" fmla="*/ 5381604 w 5381604"/>
              <a:gd name="connsiteY1" fmla="*/ 0 h 5138897"/>
              <a:gd name="connsiteX2" fmla="*/ 4907042 w 5381604"/>
              <a:gd name="connsiteY2" fmla="*/ 5138897 h 5138897"/>
              <a:gd name="connsiteX3" fmla="*/ 0 w 5381604"/>
              <a:gd name="connsiteY3" fmla="*/ 5138897 h 5138897"/>
              <a:gd name="connsiteX4" fmla="*/ 3171462 w 5381604"/>
              <a:gd name="connsiteY4" fmla="*/ 0 h 5138897"/>
              <a:gd name="connsiteX0" fmla="*/ 3171462 w 5381604"/>
              <a:gd name="connsiteY0" fmla="*/ 0 h 5138897"/>
              <a:gd name="connsiteX1" fmla="*/ 5381604 w 5381604"/>
              <a:gd name="connsiteY1" fmla="*/ 0 h 5138897"/>
              <a:gd name="connsiteX2" fmla="*/ 4907042 w 5381604"/>
              <a:gd name="connsiteY2" fmla="*/ 5138897 h 5138897"/>
              <a:gd name="connsiteX3" fmla="*/ 0 w 5381604"/>
              <a:gd name="connsiteY3" fmla="*/ 5138897 h 5138897"/>
              <a:gd name="connsiteX4" fmla="*/ 3171462 w 5381604"/>
              <a:gd name="connsiteY4" fmla="*/ 0 h 5138897"/>
              <a:gd name="connsiteX0" fmla="*/ 3171462 w 5464594"/>
              <a:gd name="connsiteY0" fmla="*/ 0 h 5138897"/>
              <a:gd name="connsiteX1" fmla="*/ 5381604 w 5464594"/>
              <a:gd name="connsiteY1" fmla="*/ 0 h 5138897"/>
              <a:gd name="connsiteX2" fmla="*/ 4907042 w 5464594"/>
              <a:gd name="connsiteY2" fmla="*/ 5138897 h 5138897"/>
              <a:gd name="connsiteX3" fmla="*/ 0 w 5464594"/>
              <a:gd name="connsiteY3" fmla="*/ 5138897 h 5138897"/>
              <a:gd name="connsiteX4" fmla="*/ 3171462 w 5464594"/>
              <a:gd name="connsiteY4" fmla="*/ 0 h 5138897"/>
              <a:gd name="connsiteX0" fmla="*/ 3171462 w 5499519"/>
              <a:gd name="connsiteY0" fmla="*/ 0 h 5138897"/>
              <a:gd name="connsiteX1" fmla="*/ 5381604 w 5499519"/>
              <a:gd name="connsiteY1" fmla="*/ 0 h 5138897"/>
              <a:gd name="connsiteX2" fmla="*/ 4907042 w 5499519"/>
              <a:gd name="connsiteY2" fmla="*/ 5138897 h 5138897"/>
              <a:gd name="connsiteX3" fmla="*/ 0 w 5499519"/>
              <a:gd name="connsiteY3" fmla="*/ 5138897 h 5138897"/>
              <a:gd name="connsiteX4" fmla="*/ 3171462 w 5499519"/>
              <a:gd name="connsiteY4" fmla="*/ 0 h 5138897"/>
              <a:gd name="connsiteX0" fmla="*/ 3171462 w 5484585"/>
              <a:gd name="connsiteY0" fmla="*/ 0 h 5138897"/>
              <a:gd name="connsiteX1" fmla="*/ 5381604 w 5484585"/>
              <a:gd name="connsiteY1" fmla="*/ 0 h 5138897"/>
              <a:gd name="connsiteX2" fmla="*/ 4907042 w 5484585"/>
              <a:gd name="connsiteY2" fmla="*/ 5138897 h 5138897"/>
              <a:gd name="connsiteX3" fmla="*/ 0 w 5484585"/>
              <a:gd name="connsiteY3" fmla="*/ 5138897 h 5138897"/>
              <a:gd name="connsiteX4" fmla="*/ 3171462 w 5484585"/>
              <a:gd name="connsiteY4" fmla="*/ 0 h 513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4585" h="5138897">
                <a:moveTo>
                  <a:pt x="3171462" y="0"/>
                </a:moveTo>
                <a:lnTo>
                  <a:pt x="5381604" y="0"/>
                </a:lnTo>
                <a:cubicBezTo>
                  <a:pt x="5651680" y="2002333"/>
                  <a:pt x="5354596" y="3530103"/>
                  <a:pt x="4907042" y="5138897"/>
                </a:cubicBezTo>
                <a:lnTo>
                  <a:pt x="0" y="5138897"/>
                </a:lnTo>
                <a:cubicBezTo>
                  <a:pt x="2191473" y="3854194"/>
                  <a:pt x="3132880" y="1168956"/>
                  <a:pt x="3171462" y="0"/>
                </a:cubicBezTo>
                <a:close/>
              </a:path>
            </a:pathLst>
          </a:custGeom>
        </p:spPr>
        <p:txBody>
          <a:bodyPr lIns="242815" tIns="121408" rIns="242815" bIns="121408"/>
          <a:lstStyle>
            <a:lvl1pPr>
              <a:defRPr>
                <a:latin typeface="Avenir Book" panose="02000503020000020003" pitchFamily="2" charset="0"/>
              </a:defRPr>
            </a:lvl1pPr>
          </a:lstStyle>
          <a:p>
            <a:endParaRPr lang="en-IN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12666B7-5855-2A41-865C-AD9C18AD85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4798" y="1192212"/>
            <a:ext cx="14036040" cy="142646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000" b="1" i="0">
                <a:solidFill>
                  <a:srgbClr val="01474D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Project XX YY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0AF9AA0-7751-9E4B-A20E-2CA66935F4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4798" y="5378824"/>
            <a:ext cx="10088562" cy="5431416"/>
          </a:xfrm>
          <a:prstGeom prst="rect">
            <a:avLst/>
          </a:prstGeom>
        </p:spPr>
        <p:txBody>
          <a:bodyPr numCol="4" spcCol="18288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290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D322317-22BC-5A46-9604-1EE71F3AE4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4798" y="3043651"/>
            <a:ext cx="12303442" cy="1828647"/>
          </a:xfrm>
          <a:prstGeom prst="rect">
            <a:avLst/>
          </a:prstGeom>
        </p:spPr>
        <p:txBody>
          <a:bodyPr tIns="0" anchor="t"/>
          <a:lstStyle>
            <a:lvl1pPr marL="0" indent="0">
              <a:lnSpc>
                <a:spcPct val="100000"/>
              </a:lnSpc>
              <a:buNone/>
              <a:defRPr sz="4100" spc="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3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1"/>
          <p:cNvSpPr/>
          <p:nvPr userDrawn="1"/>
        </p:nvSpPr>
        <p:spPr>
          <a:xfrm>
            <a:off x="3" y="8705170"/>
            <a:ext cx="24231600" cy="2618703"/>
          </a:xfrm>
          <a:custGeom>
            <a:avLst/>
            <a:gdLst>
              <a:gd name="connsiteX0" fmla="*/ 0 w 9144000"/>
              <a:gd name="connsiteY0" fmla="*/ 1122744 h 1122744"/>
              <a:gd name="connsiteX1" fmla="*/ 454307 w 9144000"/>
              <a:gd name="connsiteY1" fmla="*/ 0 h 1122744"/>
              <a:gd name="connsiteX2" fmla="*/ 9144000 w 9144000"/>
              <a:gd name="connsiteY2" fmla="*/ 0 h 1122744"/>
              <a:gd name="connsiteX3" fmla="*/ 8689693 w 9144000"/>
              <a:gd name="connsiteY3" fmla="*/ 1122744 h 1122744"/>
              <a:gd name="connsiteX4" fmla="*/ 0 w 9144000"/>
              <a:gd name="connsiteY4" fmla="*/ 1122744 h 1122744"/>
              <a:gd name="connsiteX0" fmla="*/ 0 w 9144000"/>
              <a:gd name="connsiteY0" fmla="*/ 1122744 h 1122744"/>
              <a:gd name="connsiteX1" fmla="*/ 14469 w 9144000"/>
              <a:gd name="connsiteY1" fmla="*/ 46299 h 1122744"/>
              <a:gd name="connsiteX2" fmla="*/ 9144000 w 9144000"/>
              <a:gd name="connsiteY2" fmla="*/ 0 h 1122744"/>
              <a:gd name="connsiteX3" fmla="*/ 8689693 w 9144000"/>
              <a:gd name="connsiteY3" fmla="*/ 1122744 h 1122744"/>
              <a:gd name="connsiteX4" fmla="*/ 0 w 9144000"/>
              <a:gd name="connsiteY4" fmla="*/ 1122744 h 1122744"/>
              <a:gd name="connsiteX0" fmla="*/ 0 w 9213448"/>
              <a:gd name="connsiteY0" fmla="*/ 1076445 h 1076445"/>
              <a:gd name="connsiteX1" fmla="*/ 14469 w 9213448"/>
              <a:gd name="connsiteY1" fmla="*/ 0 h 1076445"/>
              <a:gd name="connsiteX2" fmla="*/ 9213448 w 9213448"/>
              <a:gd name="connsiteY2" fmla="*/ 567160 h 1076445"/>
              <a:gd name="connsiteX3" fmla="*/ 8689693 w 9213448"/>
              <a:gd name="connsiteY3" fmla="*/ 1076445 h 1076445"/>
              <a:gd name="connsiteX4" fmla="*/ 0 w 9213448"/>
              <a:gd name="connsiteY4" fmla="*/ 1076445 h 1076445"/>
              <a:gd name="connsiteX0" fmla="*/ 0 w 9213448"/>
              <a:gd name="connsiteY0" fmla="*/ 1076445 h 1076445"/>
              <a:gd name="connsiteX1" fmla="*/ 14469 w 9213448"/>
              <a:gd name="connsiteY1" fmla="*/ 0 h 1076445"/>
              <a:gd name="connsiteX2" fmla="*/ 9213448 w 9213448"/>
              <a:gd name="connsiteY2" fmla="*/ 567160 h 1076445"/>
              <a:gd name="connsiteX3" fmla="*/ 9117956 w 9213448"/>
              <a:gd name="connsiteY3" fmla="*/ 798653 h 1076445"/>
              <a:gd name="connsiteX4" fmla="*/ 0 w 9213448"/>
              <a:gd name="connsiteY4" fmla="*/ 1076445 h 1076445"/>
              <a:gd name="connsiteX0" fmla="*/ 506392 w 9198979"/>
              <a:gd name="connsiteY0" fmla="*/ 451412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506392 w 9198979"/>
              <a:gd name="connsiteY4" fmla="*/ 451412 h 798653"/>
              <a:gd name="connsiteX0" fmla="*/ 8681 w 9198979"/>
              <a:gd name="connsiteY0" fmla="*/ 370390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8681 w 9198979"/>
              <a:gd name="connsiteY4" fmla="*/ 370390 h 798653"/>
              <a:gd name="connsiteX0" fmla="*/ 8681 w 9198979"/>
              <a:gd name="connsiteY0" fmla="*/ 370390 h 798653"/>
              <a:gd name="connsiteX1" fmla="*/ 0 w 9198979"/>
              <a:gd name="connsiteY1" fmla="*/ 0 h 798653"/>
              <a:gd name="connsiteX2" fmla="*/ 9198979 w 9198979"/>
              <a:gd name="connsiteY2" fmla="*/ 567160 h 798653"/>
              <a:gd name="connsiteX3" fmla="*/ 9103487 w 9198979"/>
              <a:gd name="connsiteY3" fmla="*/ 798653 h 798653"/>
              <a:gd name="connsiteX4" fmla="*/ 8681 w 9198979"/>
              <a:gd name="connsiteY4" fmla="*/ 370390 h 798653"/>
              <a:gd name="connsiteX0" fmla="*/ 8681 w 9198979"/>
              <a:gd name="connsiteY0" fmla="*/ 370390 h 965794"/>
              <a:gd name="connsiteX1" fmla="*/ 0 w 9198979"/>
              <a:gd name="connsiteY1" fmla="*/ 0 h 965794"/>
              <a:gd name="connsiteX2" fmla="*/ 9198979 w 9198979"/>
              <a:gd name="connsiteY2" fmla="*/ 567160 h 965794"/>
              <a:gd name="connsiteX3" fmla="*/ 9103487 w 9198979"/>
              <a:gd name="connsiteY3" fmla="*/ 798653 h 965794"/>
              <a:gd name="connsiteX4" fmla="*/ 8681 w 9198979"/>
              <a:gd name="connsiteY4" fmla="*/ 370390 h 965794"/>
              <a:gd name="connsiteX0" fmla="*/ 43405 w 9233703"/>
              <a:gd name="connsiteY0" fmla="*/ 370390 h 965794"/>
              <a:gd name="connsiteX1" fmla="*/ 0 w 9233703"/>
              <a:gd name="connsiteY1" fmla="*/ 0 h 965794"/>
              <a:gd name="connsiteX2" fmla="*/ 9233703 w 9233703"/>
              <a:gd name="connsiteY2" fmla="*/ 567160 h 965794"/>
              <a:gd name="connsiteX3" fmla="*/ 9138211 w 9233703"/>
              <a:gd name="connsiteY3" fmla="*/ 798653 h 965794"/>
              <a:gd name="connsiteX4" fmla="*/ 43405 w 9233703"/>
              <a:gd name="connsiteY4" fmla="*/ 370390 h 965794"/>
              <a:gd name="connsiteX0" fmla="*/ 0 w 9248171"/>
              <a:gd name="connsiteY0" fmla="*/ 347241 h 959022"/>
              <a:gd name="connsiteX1" fmla="*/ 14468 w 9248171"/>
              <a:gd name="connsiteY1" fmla="*/ 0 h 959022"/>
              <a:gd name="connsiteX2" fmla="*/ 9248171 w 9248171"/>
              <a:gd name="connsiteY2" fmla="*/ 567160 h 959022"/>
              <a:gd name="connsiteX3" fmla="*/ 9152679 w 9248171"/>
              <a:gd name="connsiteY3" fmla="*/ 798653 h 959022"/>
              <a:gd name="connsiteX4" fmla="*/ 0 w 9248171"/>
              <a:gd name="connsiteY4" fmla="*/ 347241 h 959022"/>
              <a:gd name="connsiteX0" fmla="*/ 0 w 9248171"/>
              <a:gd name="connsiteY0" fmla="*/ 347241 h 926654"/>
              <a:gd name="connsiteX1" fmla="*/ 14468 w 9248171"/>
              <a:gd name="connsiteY1" fmla="*/ 0 h 926654"/>
              <a:gd name="connsiteX2" fmla="*/ 9248171 w 9248171"/>
              <a:gd name="connsiteY2" fmla="*/ 567160 h 926654"/>
              <a:gd name="connsiteX3" fmla="*/ 9246331 w 9248171"/>
              <a:gd name="connsiteY3" fmla="*/ 752354 h 926654"/>
              <a:gd name="connsiteX4" fmla="*/ 0 w 9248171"/>
              <a:gd name="connsiteY4" fmla="*/ 347241 h 926654"/>
              <a:gd name="connsiteX0" fmla="*/ 0 w 9248171"/>
              <a:gd name="connsiteY0" fmla="*/ 347241 h 1495889"/>
              <a:gd name="connsiteX1" fmla="*/ 14468 w 9248171"/>
              <a:gd name="connsiteY1" fmla="*/ 0 h 1495889"/>
              <a:gd name="connsiteX2" fmla="*/ 9248171 w 9248171"/>
              <a:gd name="connsiteY2" fmla="*/ 567160 h 1495889"/>
              <a:gd name="connsiteX3" fmla="*/ 9246331 w 9248171"/>
              <a:gd name="connsiteY3" fmla="*/ 752354 h 1495889"/>
              <a:gd name="connsiteX4" fmla="*/ 0 w 9248171"/>
              <a:gd name="connsiteY4" fmla="*/ 347241 h 1495889"/>
              <a:gd name="connsiteX0" fmla="*/ 0 w 9248171"/>
              <a:gd name="connsiteY0" fmla="*/ 347241 h 1028728"/>
              <a:gd name="connsiteX1" fmla="*/ 14468 w 9248171"/>
              <a:gd name="connsiteY1" fmla="*/ 0 h 1028728"/>
              <a:gd name="connsiteX2" fmla="*/ 9248171 w 9248171"/>
              <a:gd name="connsiteY2" fmla="*/ 567160 h 1028728"/>
              <a:gd name="connsiteX3" fmla="*/ 9246331 w 9248171"/>
              <a:gd name="connsiteY3" fmla="*/ 752354 h 1028728"/>
              <a:gd name="connsiteX4" fmla="*/ 0 w 9248171"/>
              <a:gd name="connsiteY4" fmla="*/ 347241 h 1028728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1004004"/>
              <a:gd name="connsiteX1" fmla="*/ 14468 w 9248171"/>
              <a:gd name="connsiteY1" fmla="*/ 0 h 1004004"/>
              <a:gd name="connsiteX2" fmla="*/ 9248171 w 9248171"/>
              <a:gd name="connsiteY2" fmla="*/ 567160 h 1004004"/>
              <a:gd name="connsiteX3" fmla="*/ 9246331 w 9248171"/>
              <a:gd name="connsiteY3" fmla="*/ 752354 h 1004004"/>
              <a:gd name="connsiteX4" fmla="*/ 0 w 9248171"/>
              <a:gd name="connsiteY4" fmla="*/ 347241 h 1004004"/>
              <a:gd name="connsiteX0" fmla="*/ 0 w 9248171"/>
              <a:gd name="connsiteY0" fmla="*/ 347241 h 970325"/>
              <a:gd name="connsiteX1" fmla="*/ 14468 w 9248171"/>
              <a:gd name="connsiteY1" fmla="*/ 0 h 970325"/>
              <a:gd name="connsiteX2" fmla="*/ 9248171 w 9248171"/>
              <a:gd name="connsiteY2" fmla="*/ 567160 h 970325"/>
              <a:gd name="connsiteX3" fmla="*/ 9246331 w 9248171"/>
              <a:gd name="connsiteY3" fmla="*/ 706055 h 970325"/>
              <a:gd name="connsiteX4" fmla="*/ 0 w 9248171"/>
              <a:gd name="connsiteY4" fmla="*/ 347241 h 970325"/>
              <a:gd name="connsiteX0" fmla="*/ 0 w 9248171"/>
              <a:gd name="connsiteY0" fmla="*/ 358816 h 981900"/>
              <a:gd name="connsiteX1" fmla="*/ 2762 w 9248171"/>
              <a:gd name="connsiteY1" fmla="*/ 0 h 981900"/>
              <a:gd name="connsiteX2" fmla="*/ 9248171 w 9248171"/>
              <a:gd name="connsiteY2" fmla="*/ 578735 h 981900"/>
              <a:gd name="connsiteX3" fmla="*/ 9246331 w 9248171"/>
              <a:gd name="connsiteY3" fmla="*/ 717630 h 981900"/>
              <a:gd name="connsiteX4" fmla="*/ 0 w 9248171"/>
              <a:gd name="connsiteY4" fmla="*/ 358816 h 98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48171" h="981900">
                <a:moveTo>
                  <a:pt x="0" y="358816"/>
                </a:moveTo>
                <a:cubicBezTo>
                  <a:pt x="921" y="239211"/>
                  <a:pt x="1841" y="119605"/>
                  <a:pt x="2762" y="0"/>
                </a:cubicBezTo>
                <a:cubicBezTo>
                  <a:pt x="3935241" y="987707"/>
                  <a:pt x="7258979" y="875819"/>
                  <a:pt x="9248171" y="578735"/>
                </a:cubicBezTo>
                <a:cubicBezTo>
                  <a:pt x="9247558" y="640466"/>
                  <a:pt x="9246944" y="655899"/>
                  <a:pt x="9246331" y="717630"/>
                </a:cubicBezTo>
                <a:cubicBezTo>
                  <a:pt x="5712928" y="1246208"/>
                  <a:pt x="2407095" y="906684"/>
                  <a:pt x="0" y="358816"/>
                </a:cubicBezTo>
                <a:close/>
              </a:path>
            </a:pathLst>
          </a:custGeom>
          <a:solidFill>
            <a:srgbClr val="0147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2815" tIns="121408" rIns="242815" bIns="121408" spcCol="0"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Rounded Rectangular Callout 5"/>
          <p:cNvSpPr/>
          <p:nvPr userDrawn="1"/>
        </p:nvSpPr>
        <p:spPr>
          <a:xfrm>
            <a:off x="3294354" y="1524000"/>
            <a:ext cx="17045966" cy="6845601"/>
          </a:xfrm>
          <a:prstGeom prst="wedgeRoundRectCallout">
            <a:avLst/>
          </a:prstGeom>
          <a:solidFill>
            <a:srgbClr val="0147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1682" y="3007678"/>
            <a:ext cx="14752637" cy="33321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18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34CF60-3AA8-2545-9964-05BC14924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0662" y="3418110"/>
            <a:ext cx="10352058" cy="7635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220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4102040-7276-C64A-B545-D6450DADEF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4727" y="1409574"/>
            <a:ext cx="10460736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460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BF8B46F-0360-C945-80FB-928AC48A6A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13920" y="1374140"/>
            <a:ext cx="11218863" cy="48437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5D3FE4-A166-B841-9E03-DC342E263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313920" y="6786880"/>
            <a:ext cx="11218863" cy="43484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5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34CF60-3AA8-2545-9964-05BC14924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0662" y="3418110"/>
            <a:ext cx="10352058" cy="7635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220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4102040-7276-C64A-B545-D6450DADEF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4727" y="1409574"/>
            <a:ext cx="10460736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460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BF8B46F-0360-C945-80FB-928AC48A6A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96737" y="1320800"/>
            <a:ext cx="11218863" cy="4833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15D3FE4-A166-B841-9E03-DC342E263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88801" y="6362700"/>
            <a:ext cx="5486400" cy="4813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5499762-235B-9E49-8489-0623D80ED9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729200" y="6362700"/>
            <a:ext cx="5486400" cy="2534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F7A3D990-74FB-8540-896C-A1E7CD2E8D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729200" y="9061965"/>
            <a:ext cx="5486400" cy="21546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26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999B44A-8741-0C4B-A7B7-B30E8D7FE5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59768" y="2871046"/>
            <a:ext cx="11122152" cy="76944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tx1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04219-2963-214C-B2EF-071B73F51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2830406"/>
            <a:ext cx="9902952" cy="76944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tx1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C67F5AA-A860-4146-A917-959BF1A0C9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9200" y="1024946"/>
            <a:ext cx="9902952" cy="133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400" b="1" i="0">
                <a:solidFill>
                  <a:srgbClr val="01474D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015D2B6-7EA2-6943-8BE5-BF7D67DDB6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59768" y="1024946"/>
            <a:ext cx="11122152" cy="133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400" b="1" i="0">
                <a:solidFill>
                  <a:srgbClr val="01474D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8419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3318C2A-1E5C-964D-B4D8-4B5AC34575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45500" y="1172497"/>
            <a:ext cx="14693900" cy="100847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0">
                <a:latin typeface="Avenir Book" panose="02000503020000020003" pitchFamily="2" charset="0"/>
              </a:defRPr>
            </a:lvl1pPr>
            <a:lvl2pPr marL="477838" indent="0">
              <a:buNone/>
              <a:defRPr sz="2900">
                <a:latin typeface="Avenir Book" panose="02000503020000020003" pitchFamily="2" charset="0"/>
              </a:defRPr>
            </a:lvl2pPr>
            <a:lvl3pPr marL="936625" indent="0">
              <a:buNone/>
              <a:defRPr sz="2900"/>
            </a:lvl3pPr>
            <a:lvl4pPr marL="1373187" indent="0">
              <a:buNone/>
              <a:defRPr sz="2900"/>
            </a:lvl4pPr>
            <a:lvl5pPr marL="1893887" indent="0">
              <a:buNone/>
              <a:defRPr sz="2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1E740-D0C7-BC42-9B21-0B04CFDD01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3914" y="1172497"/>
            <a:ext cx="6097587" cy="1703388"/>
          </a:xfrm>
          <a:prstGeom prst="rect">
            <a:avLst/>
          </a:prstGeom>
        </p:spPr>
        <p:txBody>
          <a:bodyPr lIns="274320" tIns="0" rIns="0" bIns="0"/>
          <a:lstStyle>
            <a:lvl1pPr marL="0" indent="0">
              <a:spcBef>
                <a:spcPts val="0"/>
              </a:spcBef>
              <a:buNone/>
              <a:defRPr b="1" i="0">
                <a:solidFill>
                  <a:srgbClr val="01474D"/>
                </a:solidFill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AAED83C-39ED-9B42-BCEA-407F7C445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3914" y="3759845"/>
            <a:ext cx="6097587" cy="7416155"/>
          </a:xfrm>
          <a:prstGeom prst="rect">
            <a:avLst/>
          </a:prstGeom>
        </p:spPr>
        <p:txBody>
          <a:bodyPr lIns="274320" tIns="0" rIns="0" bIns="0">
            <a:normAutofit/>
          </a:bodyPr>
          <a:lstStyle>
            <a:lvl1pPr marL="0" indent="0">
              <a:buNone/>
              <a:defRPr sz="4000" b="0" i="0">
                <a:latin typeface="Avenir Book" panose="02000503020000020003" pitchFamily="2" charset="0"/>
              </a:defRPr>
            </a:lvl1pPr>
          </a:lstStyle>
          <a:p>
            <a:pPr lvl="0"/>
            <a:r>
              <a:rPr lang="en-US" dirty="0"/>
              <a:t>––</a:t>
            </a:r>
            <a:br>
              <a:rPr lang="en-US" dirty="0"/>
            </a:br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560975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46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443580-3820-A6DF-CC25-9082504A13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36" y="2834639"/>
            <a:ext cx="24213164" cy="7467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B4410D-CF88-DF80-30E4-FAA0DB2403CA}"/>
              </a:ext>
            </a:extLst>
          </p:cNvPr>
          <p:cNvSpPr txBox="1"/>
          <p:nvPr userDrawn="1"/>
        </p:nvSpPr>
        <p:spPr>
          <a:xfrm>
            <a:off x="6057900" y="2234475"/>
            <a:ext cx="1211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dirty="0">
                <a:solidFill>
                  <a:schemeClr val="accent2"/>
                </a:solidFill>
                <a:effectLst/>
                <a:latin typeface="Avenir Black" panose="02000503020000020003" pitchFamily="2" charset="0"/>
              </a:rPr>
              <a:t>DISCLAIMER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18C8D-1E90-C12B-1FD5-D36CC479B3A7}"/>
              </a:ext>
            </a:extLst>
          </p:cNvPr>
          <p:cNvSpPr txBox="1"/>
          <p:nvPr userDrawn="1"/>
        </p:nvSpPr>
        <p:spPr>
          <a:xfrm>
            <a:off x="6057900" y="5783125"/>
            <a:ext cx="12115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 dirty="0">
                <a:solidFill>
                  <a:srgbClr val="FFFFFF"/>
                </a:solidFill>
                <a:effectLst/>
                <a:latin typeface="Avenir Light" panose="020B0402020203020204" pitchFamily="34" charset="77"/>
              </a:rPr>
              <a:t>All this presentation materials are the sole</a:t>
            </a:r>
          </a:p>
          <a:p>
            <a:pPr algn="ctr"/>
            <a:r>
              <a:rPr lang="en-US" sz="4000" b="0" i="0" dirty="0">
                <a:solidFill>
                  <a:srgbClr val="FFFFFF"/>
                </a:solidFill>
                <a:effectLst/>
                <a:latin typeface="Avenir Light" panose="020B0402020203020204" pitchFamily="34" charset="77"/>
              </a:rPr>
              <a:t>property of Nama Holding and cannot be published, copied, or disseminated without prior written approval from Nama Holding</a:t>
            </a:r>
          </a:p>
        </p:txBody>
      </p:sp>
    </p:spTree>
    <p:extLst>
      <p:ext uri="{BB962C8B-B14F-4D97-AF65-F5344CB8AC3E}">
        <p14:creationId xmlns:p14="http://schemas.microsoft.com/office/powerpoint/2010/main" val="2428979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0D3C5E-2EE3-5011-AC9E-5285420459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89741"/>
            <a:ext cx="24287632" cy="11384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3337E4-435B-5A2C-E12A-7AA6C77B4732}"/>
              </a:ext>
            </a:extLst>
          </p:cNvPr>
          <p:cNvSpPr txBox="1"/>
          <p:nvPr userDrawn="1"/>
        </p:nvSpPr>
        <p:spPr>
          <a:xfrm>
            <a:off x="11727180" y="12561754"/>
            <a:ext cx="1211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ar-OM" sz="1200" dirty="0">
                <a:solidFill>
                  <a:schemeClr val="bg1"/>
                </a:solidFill>
                <a:effectLst/>
                <a:latin typeface="Helvetica" pitchFamily="2" charset="0"/>
              </a:rPr>
              <a:t>جميع الحقوق محفوظة لنماء القابضة ٢٠٢٣</a:t>
            </a:r>
            <a:endParaRPr lang="en-US" sz="1200" dirty="0"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effectLst/>
                <a:latin typeface="Helvetica" pitchFamily="2" charset="0"/>
              </a:rPr>
              <a:t>All rights reserved Nama © 2023</a:t>
            </a:r>
            <a:endParaRPr lang="ar-OM" sz="1200" dirty="0">
              <a:solidFill>
                <a:schemeClr val="bg1"/>
              </a:solidFill>
              <a:effectLst/>
              <a:latin typeface="Helvetica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A0097B-A228-18B6-F3E2-FBB50998C7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011" y="10592080"/>
            <a:ext cx="3558266" cy="220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15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3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1" preserve="1">
  <p:cSld name="end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24231600" cy="13717588"/>
          </a:xfrm>
          <a:prstGeom prst="rect">
            <a:avLst/>
          </a:prstGeom>
          <a:solidFill>
            <a:srgbClr val="01474D"/>
          </a:solidFill>
          <a:ln>
            <a:noFill/>
          </a:ln>
        </p:spPr>
        <p:txBody>
          <a:bodyPr spcFirstLastPara="1" wrap="square" lIns="242776" tIns="242776" rIns="242776" bIns="2427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5B79AA-85E5-9BC8-52FC-E46BAA2196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0219" y="4709422"/>
            <a:ext cx="6951163" cy="429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6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1" r:id="rId2"/>
    <p:sldLayoutId id="2147483677" r:id="rId3"/>
    <p:sldLayoutId id="2147483665" r:id="rId4"/>
    <p:sldLayoutId id="2147483667" r:id="rId5"/>
    <p:sldLayoutId id="2147483672" r:id="rId6"/>
    <p:sldLayoutId id="2147483679" r:id="rId7"/>
    <p:sldLayoutId id="2147483670" r:id="rId8"/>
    <p:sldLayoutId id="2147483674" r:id="rId9"/>
    <p:sldLayoutId id="2147483673" r:id="rId10"/>
    <p:sldLayoutId id="2147483675" r:id="rId11"/>
    <p:sldLayoutId id="2147483676" r:id="rId12"/>
    <p:sldLayoutId id="2147483681" r:id="rId13"/>
    <p:sldLayoutId id="2147483669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8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svg"/><Relationship Id="rId5" Type="http://schemas.openxmlformats.org/officeDocument/2006/relationships/image" Target="../media/image11.pn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10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000" y="1584000"/>
            <a:ext cx="11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spc="300">
                <a:solidFill>
                  <a:srgbClr val="BFE3E4"/>
                </a:solidFill>
                <a:latin typeface="Calibri"/>
              </a:rPr>
              <a:t>IBRI NEW STP, SEWER &amp; TE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" y="2232000"/>
            <a:ext cx="11160000" cy="165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Design Basis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E5A32B"/>
                </a:solidFill>
                <a:latin typeface="Calibri"/>
              </a:rPr>
              <a:t>Settlement boundaries, population, flows and 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8000" y="4860000"/>
            <a:ext cx="2520000" cy="50400"/>
          </a:xfrm>
          <a:prstGeom prst="rect">
            <a:avLst/>
          </a:prstGeom>
          <a:solidFill>
            <a:srgbClr val="E5A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5148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BFE3E4"/>
                </a:solidFill>
                <a:latin typeface="Calibri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436000"/>
            <a:ext cx="1062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Consultancy Services for Design and Supervision for STP, Sewer &amp; TE Networks Systems in Ibri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6732000"/>
            <a:ext cx="3671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BFE3E4"/>
                </a:solidFill>
                <a:latin typeface="Calibri"/>
              </a:rPr>
              <a:t>TENDER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7020000"/>
            <a:ext cx="367199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T / 2719110 /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6732000"/>
            <a:ext cx="3671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BFE3E4"/>
                </a:solidFill>
                <a:latin typeface="Calibri"/>
              </a:rPr>
              <a:t>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7020000"/>
            <a:ext cx="367199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16th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6732000"/>
            <a:ext cx="3671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BFE3E4"/>
                </a:solidFill>
                <a:latin typeface="Calibri"/>
              </a:rP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0" y="7020000"/>
            <a:ext cx="367199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Revision 0</a:t>
            </a:r>
          </a:p>
        </p:txBody>
      </p:sp>
      <p:pic>
        <p:nvPicPr>
          <p:cNvPr id="14" name="Picture 13" descr="cove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7999" y="2271661"/>
            <a:ext cx="12132000" cy="67966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0000" y="10404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5A5A5A"/>
                </a:solidFill>
                <a:latin typeface="Calibri"/>
              </a:rPr>
              <a:t>CONSULTANT  ·  JOINT VENTURE</a:t>
            </a:r>
          </a:p>
        </p:txBody>
      </p:sp>
      <p:pic>
        <p:nvPicPr>
          <p:cNvPr id="16" name="Picture 15" descr="logo_renard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0" y="10908000"/>
            <a:ext cx="5559344" cy="1080000"/>
          </a:xfrm>
          <a:prstGeom prst="rect">
            <a:avLst/>
          </a:prstGeom>
        </p:spPr>
      </p:pic>
      <p:pic>
        <p:nvPicPr>
          <p:cNvPr id="17" name="Picture 16" descr="logo_dohw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00" y="10998000"/>
            <a:ext cx="2857143" cy="900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2384000" y="11340000"/>
            <a:ext cx="1007999" cy="1007999"/>
          </a:xfrm>
          <a:prstGeom prst="ellipse">
            <a:avLst/>
          </a:prstGeom>
          <a:solidFill>
            <a:srgbClr val="2A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61999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A6FBB"/>
                </a:solidFill>
                <a:latin typeface="Calibri"/>
              </a:rPr>
              <a:t>Boundaries</a:t>
            </a:r>
          </a:p>
        </p:txBody>
      </p:sp>
      <p:sp>
        <p:nvSpPr>
          <p:cNvPr id="20" name="Oval 19"/>
          <p:cNvSpPr/>
          <p:nvPr/>
        </p:nvSpPr>
        <p:spPr>
          <a:xfrm>
            <a:off x="14436000" y="11340000"/>
            <a:ext cx="1007999" cy="1007999"/>
          </a:xfrm>
          <a:prstGeom prst="ellipse">
            <a:avLst/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914000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9901A"/>
                </a:solidFill>
                <a:latin typeface="Calibri"/>
              </a:rPr>
              <a:t>Population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6487999" y="11340000"/>
            <a:ext cx="1007999" cy="1007999"/>
          </a:xfrm>
          <a:prstGeom prst="ellipse">
            <a:avLst/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65999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B4453F"/>
                </a:solidFill>
                <a:latin typeface="Calibri"/>
              </a:rPr>
              <a:t>Growth</a:t>
            </a:r>
          </a:p>
        </p:txBody>
      </p:sp>
      <p:sp>
        <p:nvSpPr>
          <p:cNvPr id="24" name="Oval 23"/>
          <p:cNvSpPr/>
          <p:nvPr/>
        </p:nvSpPr>
        <p:spPr>
          <a:xfrm>
            <a:off x="18540000" y="11340000"/>
            <a:ext cx="1007999" cy="1007999"/>
          </a:xfrm>
          <a:prstGeom prst="ellipse">
            <a:avLst/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018000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E8E5E"/>
                </a:solidFill>
                <a:latin typeface="Calibri"/>
              </a:rPr>
              <a:t>Network</a:t>
            </a:r>
          </a:p>
        </p:txBody>
      </p:sp>
      <p:sp>
        <p:nvSpPr>
          <p:cNvPr id="26" name="Oval 25"/>
          <p:cNvSpPr/>
          <p:nvPr/>
        </p:nvSpPr>
        <p:spPr>
          <a:xfrm>
            <a:off x="20592000" y="11340000"/>
            <a:ext cx="1007999" cy="1007999"/>
          </a:xfrm>
          <a:prstGeom prst="ellipse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069999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B4C9A"/>
                </a:solidFill>
                <a:latin typeface="Calibri"/>
              </a:rPr>
              <a:t>Plant</a:t>
            </a:r>
          </a:p>
        </p:txBody>
      </p:sp>
      <p:sp>
        <p:nvSpPr>
          <p:cNvPr id="28" name="Oval 27"/>
          <p:cNvSpPr/>
          <p:nvPr/>
        </p:nvSpPr>
        <p:spPr>
          <a:xfrm>
            <a:off x="22644000" y="11340000"/>
            <a:ext cx="1007999" cy="1007999"/>
          </a:xfrm>
          <a:prstGeom prst="ellips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122000" y="12420000"/>
            <a:ext cx="20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A5A5A"/>
                </a:solidFill>
                <a:latin typeface="Calibri"/>
              </a:rPr>
              <a:t>Decisions</a:t>
            </a:r>
          </a:p>
        </p:txBody>
      </p:sp>
      <p:pic>
        <p:nvPicPr>
          <p:cNvPr id="31" name="icon logo_nama_white.svg">
            <a:extLst>
              <a:ext uri="{FF2B5EF4-FFF2-40B4-BE49-F238E27FC236}">
                <a16:creationId xmlns:a16="http://schemas.microsoft.com/office/drawing/2014/main" id="{079EC29E-4BDE-9F50-0AE5-7ECF1002670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160031" y="360001"/>
            <a:ext cx="3240005" cy="2007741"/>
          </a:xfrm>
          <a:prstGeom prst="rect">
            <a:avLst/>
          </a:prstGeom>
        </p:spPr>
      </p:pic>
      <p:pic>
        <p:nvPicPr>
          <p:cNvPr id="33" name="icon polygon">
            <a:extLst>
              <a:ext uri="{FF2B5EF4-FFF2-40B4-BE49-F238E27FC236}">
                <a16:creationId xmlns:a16="http://schemas.microsoft.com/office/drawing/2014/main" id="{6F3DE729-9C92-5B37-659F-75F5E2BE4F9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00019" y="11556018"/>
            <a:ext cx="576001" cy="576001"/>
          </a:xfrm>
          <a:prstGeom prst="rect">
            <a:avLst/>
          </a:prstGeom>
        </p:spPr>
      </p:pic>
      <p:pic>
        <p:nvPicPr>
          <p:cNvPr id="35" name="icon users">
            <a:extLst>
              <a:ext uri="{FF2B5EF4-FFF2-40B4-BE49-F238E27FC236}">
                <a16:creationId xmlns:a16="http://schemas.microsoft.com/office/drawing/2014/main" id="{F7AB9316-E29C-3F33-5454-31AEAA9DD53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652022" y="11556018"/>
            <a:ext cx="576001" cy="576001"/>
          </a:xfrm>
          <a:prstGeom prst="rect">
            <a:avLst/>
          </a:prstGeom>
        </p:spPr>
      </p:pic>
      <p:pic>
        <p:nvPicPr>
          <p:cNvPr id="37" name="icon trending-up">
            <a:extLst>
              <a:ext uri="{FF2B5EF4-FFF2-40B4-BE49-F238E27FC236}">
                <a16:creationId xmlns:a16="http://schemas.microsoft.com/office/drawing/2014/main" id="{05295281-F92D-AED0-2AC8-C577F73327AE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04025" y="11556018"/>
            <a:ext cx="576001" cy="576001"/>
          </a:xfrm>
          <a:prstGeom prst="rect">
            <a:avLst/>
          </a:prstGeom>
        </p:spPr>
      </p:pic>
      <p:pic>
        <p:nvPicPr>
          <p:cNvPr id="39" name="icon pipeline">
            <a:extLst>
              <a:ext uri="{FF2B5EF4-FFF2-40B4-BE49-F238E27FC236}">
                <a16:creationId xmlns:a16="http://schemas.microsoft.com/office/drawing/2014/main" id="{454987BD-BD8A-898E-5955-39C8401F4A3E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56029" y="11556018"/>
            <a:ext cx="576001" cy="576001"/>
          </a:xfrm>
          <a:prstGeom prst="rect">
            <a:avLst/>
          </a:prstGeom>
        </p:spPr>
      </p:pic>
      <p:pic>
        <p:nvPicPr>
          <p:cNvPr id="41" name="icon building-factory-2">
            <a:extLst>
              <a:ext uri="{FF2B5EF4-FFF2-40B4-BE49-F238E27FC236}">
                <a16:creationId xmlns:a16="http://schemas.microsoft.com/office/drawing/2014/main" id="{7AAB663A-FE01-2464-FA0D-89B6C4E90926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808032" y="11556018"/>
            <a:ext cx="576001" cy="576001"/>
          </a:xfrm>
          <a:prstGeom prst="rect">
            <a:avLst/>
          </a:prstGeom>
        </p:spPr>
      </p:pic>
      <p:pic>
        <p:nvPicPr>
          <p:cNvPr id="43" name="icon clipboard-check">
            <a:extLst>
              <a:ext uri="{FF2B5EF4-FFF2-40B4-BE49-F238E27FC236}">
                <a16:creationId xmlns:a16="http://schemas.microsoft.com/office/drawing/2014/main" id="{50D91DAF-62C5-C171-5F94-1466664E2AAD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860036" y="11556018"/>
            <a:ext cx="576001" cy="5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15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01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Why this meeting: the foundation before the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1474D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01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520000"/>
            <a:ext cx="13320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5A5A5A"/>
                </a:solidFill>
                <a:latin typeface="Calibri"/>
              </a:rPr>
              <a:t>The concept design will be one document. Its options for the network and the STP rest on the numbers in the Design Basis Report.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5A5A5A"/>
                </a:solidFill>
                <a:latin typeface="Calibri"/>
              </a:rPr>
              <a:t>If a number changes after the options are drawn, the options are drawn again.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5A5A5A"/>
                </a:solidFill>
                <a:latin typeface="Calibri"/>
              </a:rPr>
              <a:t>So the foundation comes first: where the settlements are, how many people, how much the land can hold, and the sewage every element must carry.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Only what the guideline does not settle is put to Nama Water Services for approval. The guideline's own values are adopted and reported.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80000" y="2736000"/>
            <a:ext cx="30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1F497D"/>
                </a:solidFill>
                <a:latin typeface="Calibri"/>
              </a:rPr>
              <a:t>7</a:t>
            </a:r>
          </a:p>
          <a:p>
            <a:pPr algn="ctr"/>
            <a:r>
              <a:rPr sz="2000">
                <a:solidFill>
                  <a:srgbClr val="5A5A5A"/>
                </a:solidFill>
                <a:latin typeface="Calibri"/>
              </a:rPr>
              <a:t>decisions to 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0000" y="2736000"/>
            <a:ext cx="30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4F81BD"/>
                </a:solidFill>
                <a:latin typeface="Calibri"/>
              </a:rPr>
              <a:t>8</a:t>
            </a:r>
          </a:p>
          <a:p>
            <a:pPr algn="ctr"/>
            <a:r>
              <a:rPr sz="2000">
                <a:solidFill>
                  <a:srgbClr val="5A5A5A"/>
                </a:solidFill>
                <a:latin typeface="Calibri"/>
              </a:rPr>
              <a:t>values adopted, for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0000" y="2736000"/>
            <a:ext cx="30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5A5A5A"/>
                </a:solidFill>
                <a:latin typeface="Calibri"/>
              </a:rPr>
              <a:t>7</a:t>
            </a:r>
          </a:p>
          <a:p>
            <a:pPr algn="ctr"/>
            <a:r>
              <a:rPr sz="2000">
                <a:solidFill>
                  <a:srgbClr val="5A5A5A"/>
                </a:solidFill>
                <a:latin typeface="Calibri"/>
              </a:rPr>
              <a:t>data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7200000"/>
            <a:ext cx="144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497D"/>
                </a:solidFill>
                <a:latin typeface="Calibri"/>
              </a:rPr>
              <a:t>The hour, in six steps</a:t>
            </a:r>
          </a:p>
        </p:txBody>
      </p:sp>
      <p:sp>
        <p:nvSpPr>
          <p:cNvPr id="27" name="Pentagon 26"/>
          <p:cNvSpPr/>
          <p:nvPr/>
        </p:nvSpPr>
        <p:spPr>
          <a:xfrm>
            <a:off x="540000" y="8964000"/>
            <a:ext cx="3786000" cy="1728000"/>
          </a:xfrm>
          <a:prstGeom prst="homePlate">
            <a:avLst/>
          </a:prstGeom>
          <a:solidFill>
            <a:srgbClr val="2A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Boundaries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Decision 1: the 25 settlements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4398000" y="8964000"/>
            <a:ext cx="3786000" cy="1728000"/>
          </a:xfrm>
          <a:prstGeom prst="chevron">
            <a:avLst/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3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Decisions 2 and 3: people, plots, the rates</a:t>
            </a:r>
          </a:p>
        </p:txBody>
      </p:sp>
      <p:sp>
        <p:nvSpPr>
          <p:cNvPr id="31" name="Chevron 30"/>
          <p:cNvSpPr/>
          <p:nvPr/>
        </p:nvSpPr>
        <p:spPr>
          <a:xfrm>
            <a:off x="8256000" y="8964000"/>
            <a:ext cx="3786000" cy="1728000"/>
          </a:xfrm>
          <a:prstGeom prst="chevron">
            <a:avLst/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3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6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Decisions 4, 5 and 6: overflow, horizon, the series</a:t>
            </a:r>
          </a:p>
        </p:txBody>
      </p:sp>
      <p:sp>
        <p:nvSpPr>
          <p:cNvPr id="33" name="Chevron 32"/>
          <p:cNvSpPr/>
          <p:nvPr/>
        </p:nvSpPr>
        <p:spPr>
          <a:xfrm>
            <a:off x="12114000" y="8964000"/>
            <a:ext cx="3786000" cy="1728000"/>
          </a:xfrm>
          <a:prstGeom prst="chevron">
            <a:avLst/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3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14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Decision 7: the flow of every element</a:t>
            </a:r>
          </a:p>
        </p:txBody>
      </p:sp>
      <p:sp>
        <p:nvSpPr>
          <p:cNvPr id="35" name="Chevron 34"/>
          <p:cNvSpPr/>
          <p:nvPr/>
        </p:nvSpPr>
        <p:spPr>
          <a:xfrm>
            <a:off x="15972000" y="8964000"/>
            <a:ext cx="3786000" cy="1728000"/>
          </a:xfrm>
          <a:prstGeom prst="chevron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3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Plant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72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STP flows and loads; treated effluent</a:t>
            </a:r>
          </a:p>
        </p:txBody>
      </p:sp>
      <p:sp>
        <p:nvSpPr>
          <p:cNvPr id="37" name="Chevron 36"/>
          <p:cNvSpPr/>
          <p:nvPr/>
        </p:nvSpPr>
        <p:spPr>
          <a:xfrm>
            <a:off x="19830000" y="8964000"/>
            <a:ext cx="3786000" cy="1728000"/>
          </a:xfrm>
          <a:prstGeom prst="chevron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32000" rIns="720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30000" y="10836000"/>
            <a:ext cx="3786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  <a:latin typeface="Calibri"/>
              </a:rPr>
              <a:t>the data requests; the answer sheet</a:t>
            </a:r>
          </a:p>
        </p:txBody>
      </p:sp>
      <p:pic>
        <p:nvPicPr>
          <p:cNvPr id="40" name="icon presentation">
            <a:extLst>
              <a:ext uri="{FF2B5EF4-FFF2-40B4-BE49-F238E27FC236}">
                <a16:creationId xmlns:a16="http://schemas.microsoft.com/office/drawing/2014/main" id="{90E9AE4E-9688-59E0-3EDA-E66B37A885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  <p:pic>
        <p:nvPicPr>
          <p:cNvPr id="42" name="icon polygon">
            <a:extLst>
              <a:ext uri="{FF2B5EF4-FFF2-40B4-BE49-F238E27FC236}">
                <a16:creationId xmlns:a16="http://schemas.microsoft.com/office/drawing/2014/main" id="{D3770107-A052-0B50-FCBE-7907B27CD0A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5003" y="7776012"/>
            <a:ext cx="1008002" cy="1008002"/>
          </a:xfrm>
          <a:prstGeom prst="rect">
            <a:avLst/>
          </a:prstGeom>
        </p:spPr>
      </p:pic>
      <p:pic>
        <p:nvPicPr>
          <p:cNvPr id="44" name="icon users">
            <a:extLst>
              <a:ext uri="{FF2B5EF4-FFF2-40B4-BE49-F238E27FC236}">
                <a16:creationId xmlns:a16="http://schemas.microsoft.com/office/drawing/2014/main" id="{7E868996-6DB8-FEA8-F4B8-70D0FB9857F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3009" y="7776012"/>
            <a:ext cx="1008002" cy="1008002"/>
          </a:xfrm>
          <a:prstGeom prst="rect">
            <a:avLst/>
          </a:prstGeom>
        </p:spPr>
      </p:pic>
      <p:pic>
        <p:nvPicPr>
          <p:cNvPr id="46" name="icon trending-up">
            <a:extLst>
              <a:ext uri="{FF2B5EF4-FFF2-40B4-BE49-F238E27FC236}">
                <a16:creationId xmlns:a16="http://schemas.microsoft.com/office/drawing/2014/main" id="{92830A9F-2566-40C7-EFEB-7B9A0F886DF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81015" y="7776012"/>
            <a:ext cx="1008002" cy="1008002"/>
          </a:xfrm>
          <a:prstGeom prst="rect">
            <a:avLst/>
          </a:prstGeom>
        </p:spPr>
      </p:pic>
      <p:pic>
        <p:nvPicPr>
          <p:cNvPr id="48" name="icon pipeline">
            <a:extLst>
              <a:ext uri="{FF2B5EF4-FFF2-40B4-BE49-F238E27FC236}">
                <a16:creationId xmlns:a16="http://schemas.microsoft.com/office/drawing/2014/main" id="{0CF0EFDC-6FC9-B370-4B62-93E2BC206007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39020" y="7776012"/>
            <a:ext cx="1008002" cy="1008002"/>
          </a:xfrm>
          <a:prstGeom prst="rect">
            <a:avLst/>
          </a:prstGeom>
        </p:spPr>
      </p:pic>
      <p:pic>
        <p:nvPicPr>
          <p:cNvPr id="50" name="icon building-factory-2">
            <a:extLst>
              <a:ext uri="{FF2B5EF4-FFF2-40B4-BE49-F238E27FC236}">
                <a16:creationId xmlns:a16="http://schemas.microsoft.com/office/drawing/2014/main" id="{FA427320-0CB1-3FFA-E408-94DC92975EDA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397026" y="7776012"/>
            <a:ext cx="1008002" cy="1008002"/>
          </a:xfrm>
          <a:prstGeom prst="rect">
            <a:avLst/>
          </a:prstGeom>
        </p:spPr>
      </p:pic>
      <p:pic>
        <p:nvPicPr>
          <p:cNvPr id="52" name="icon clipboard-check">
            <a:extLst>
              <a:ext uri="{FF2B5EF4-FFF2-40B4-BE49-F238E27FC236}">
                <a16:creationId xmlns:a16="http://schemas.microsoft.com/office/drawing/2014/main" id="{62ABE355-9CEE-422D-288C-99E8D66C18F4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255033" y="7776012"/>
            <a:ext cx="1008002" cy="1008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01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From the meter to the STP: the chain of the numbers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1474D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01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pic>
        <p:nvPicPr>
          <p:cNvPr id="22" name="Picture 21" descr="D3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3628154"/>
            <a:ext cx="12960000" cy="82956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400000" y="2736000"/>
            <a:ext cx="9000000" cy="9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500" b="0">
                <a:solidFill>
                  <a:srgbClr val="5A5A5A"/>
                </a:solidFill>
                <a:latin typeface="Calibri"/>
              </a:rPr>
              <a:t>• Every domestic electricity meter is a property; the settlement's occupancy makes it people.</a:t>
            </a:r>
          </a:p>
          <a:p>
            <a:pPr algn="l">
              <a:spcAft>
                <a:spcPts val="1200"/>
              </a:spcAft>
            </a:pPr>
            <a:r>
              <a:rPr sz="2500" b="0">
                <a:solidFill>
                  <a:srgbClr val="5A5A5A"/>
                </a:solidFill>
                <a:latin typeface="Calibri"/>
              </a:rPr>
              <a:t>• Water per person from the guideline; shops and government as shares; the return to the sewer per stream.</a:t>
            </a:r>
          </a:p>
          <a:p>
            <a:pPr algn="l">
              <a:spcAft>
                <a:spcPts val="1200"/>
              </a:spcAft>
            </a:pPr>
            <a:r>
              <a:rPr sz="2500" b="0">
                <a:solidFill>
                  <a:srgbClr val="5A5A5A"/>
                </a:solidFill>
                <a:latin typeface="Calibri"/>
              </a:rPr>
              <a:t>• The plot carries an average flow for 2024, 2030, 2055 and the year the land is full.</a:t>
            </a:r>
          </a:p>
          <a:p>
            <a:pPr algn="l">
              <a:spcAft>
                <a:spcPts val="1200"/>
              </a:spcAft>
            </a:pPr>
            <a:r>
              <a:rPr sz="2500" b="0">
                <a:solidFill>
                  <a:srgbClr val="5A5A5A"/>
                </a:solidFill>
                <a:latin typeface="Calibri"/>
              </a:rPr>
              <a:t>• The pipe adds the peak and the infiltration. The STP adds the margin.</a:t>
            </a:r>
          </a:p>
          <a:p>
            <a:pPr algn="l">
              <a:spcAft>
                <a:spcPts val="12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• Today: 119,893 people, 20,852 m³/d. Saturation 2070: 349,029 people, 60,099 m³/d.</a:t>
            </a:r>
          </a:p>
        </p:txBody>
      </p:sp>
      <p:pic>
        <p:nvPicPr>
          <p:cNvPr id="25" name="icon presentation">
            <a:extLst>
              <a:ext uri="{FF2B5EF4-FFF2-40B4-BE49-F238E27FC236}">
                <a16:creationId xmlns:a16="http://schemas.microsoft.com/office/drawing/2014/main" id="{39AAF801-4AA5-30C5-B961-62CE483B665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2A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1 · The settlement boundaries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A6FBB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2A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pic>
        <p:nvPicPr>
          <p:cNvPr id="22" name="Picture 21" descr="B01_bounda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535" y="2376000"/>
            <a:ext cx="13136929" cy="928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20000" y="2556000"/>
            <a:ext cx="6480000" cy="7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Received: 26 polygons for 25 settlements, drawn round the built cores, not touching.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Four miss part of their plots: Tanam, Satwah, Al Makhtibyah, Bat.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Redrawn: every plot in one settlement, no gaps. Names, series and plots as received.</a:t>
            </a:r>
          </a:p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497D"/>
                </a:solidFill>
                <a:latin typeface="Calibri"/>
              </a:rPr>
              <a:t>• Every rule of the basis is applied per settlement; this is why it matters.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1.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twenty-five settlement boundaries redrawn so that every plot lies in one settlement and there are no gaps between them.</a:t>
            </a:r>
          </a:p>
        </p:txBody>
      </p:sp>
      <p:pic>
        <p:nvPicPr>
          <p:cNvPr id="26" name="icon polygon">
            <a:extLst>
              <a:ext uri="{FF2B5EF4-FFF2-40B4-BE49-F238E27FC236}">
                <a16:creationId xmlns:a16="http://schemas.microsoft.com/office/drawing/2014/main" id="{6E96FAA2-346B-90FC-3115-82623DA414A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2 · Persons per property, by settlement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901A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pic>
        <p:nvPicPr>
          <p:cNvPr id="22" name="Picture 21" descr="C02_occupa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53" y="2376000"/>
            <a:ext cx="11703092" cy="792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480000" y="2556000"/>
            <a:ext cx="7920000" cy="7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Occupancy = 2024 population ÷ properties counted. Ibri 6.07; area-wide 5.16.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Floor 4.0: institutional housing (police, college) drags some settlements to 1 to 4; those properties discharge all the same.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Cap 6.12, the highest among settlements of 2,000 or more.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Under 1,000 people: 4.0, one property per plot, home share 0.9 (13 settlements).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97D"/>
                </a:solidFill>
                <a:latin typeface="Calibri"/>
              </a:rPr>
              <a:t>• Result: 119,893 people in 2024 against 116,452 in the census series.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2.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persons per property calculated for each settlement, with the floor of 4.0, the cap of 6.12 and the rule for settlements under a thousand people.</a:t>
            </a:r>
          </a:p>
        </p:txBody>
      </p:sp>
      <p:pic>
        <p:nvPicPr>
          <p:cNvPr id="26" name="icon users">
            <a:extLst>
              <a:ext uri="{FF2B5EF4-FFF2-40B4-BE49-F238E27FC236}">
                <a16:creationId xmlns:a16="http://schemas.microsoft.com/office/drawing/2014/main" id="{A7D58EA8-7286-D9B3-FDEF-28437E9ED9E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3 · The use of each plot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901A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pic>
        <p:nvPicPr>
          <p:cNvPr id="22" name="Picture 21" descr="B02_land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535" y="2376000"/>
            <a:ext cx="13136929" cy="928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20000" y="2556000"/>
            <a:ext cx="6480000" cy="7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0">
                <a:solidFill>
                  <a:srgbClr val="5A5A5A"/>
                </a:solidFill>
                <a:latin typeface="Calibri"/>
              </a:rPr>
              <a:t>• The cadastre's own land-use field disagrees with the meters on 24 % of the metered plots and has no government class.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5A5A5A"/>
                </a:solidFill>
                <a:latin typeface="Calibri"/>
              </a:rPr>
              <a:t>• The use is determined from what is on the plot: estate, heritage, farm meter, planted (satellite), then the meters by proportion.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5A5A5A"/>
                </a:solidFill>
                <a:latin typeface="Calibri"/>
              </a:rPr>
              <a:t>• 12,464 homes, 1,321 shops, 410 government, 1,684 farms; 60,509 empty.</a:t>
            </a:r>
          </a:p>
          <a:p>
            <a:pPr algn="l">
              <a:spcAft>
                <a:spcPts val="12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It decides where the shop and government water sits, not how much.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3.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use determined for each plot from the meters and the satellite image, in place of the cadastre's own land-use field, as the basis for placing the loads.</a:t>
            </a:r>
          </a:p>
        </p:txBody>
      </p:sp>
      <p:pic>
        <p:nvPicPr>
          <p:cNvPr id="26" name="icon users">
            <a:extLst>
              <a:ext uri="{FF2B5EF4-FFF2-40B4-BE49-F238E27FC236}">
                <a16:creationId xmlns:a16="http://schemas.microsoft.com/office/drawing/2014/main" id="{73EE1973-D98A-4538-36F1-F91CA431262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The rates adopted from the guideline (for information)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901A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23147997" cy="97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1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Adopted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Domestic water use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164 l per person per day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PAM-GUD-201 Table 11, Adh Dhahirah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Shops and offices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22 % of domestic, placed on the shop meters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Table 11, the distributed ratio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14 % of domestic, placed on the government meters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Table 11; unit rates need quantities not held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Return to the sewer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85 % domestic and tanker; 54 % the rest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Table 19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A person in a new home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171.3 l of sewage a day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164 × 0.85 + 36 × 0.54 + 23 × 0.54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Industrial estates (special)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4,500 + 1,800 workers at 93 l/d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an assumption until the estates' records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Farm meters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no sewage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irrigation pumps; the house is metered separately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Tanker water, private wells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not in any flow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62626"/>
                          </a:solidFill>
                          <a:latin typeface="Calibri"/>
                        </a:rPr>
                        <a:t>no records held: requested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4" name="icon users">
            <a:extLst>
              <a:ext uri="{FF2B5EF4-FFF2-40B4-BE49-F238E27FC236}">
                <a16:creationId xmlns:a16="http://schemas.microsoft.com/office/drawing/2014/main" id="{1085685C-DBC3-6B65-FA78-B98C75C1BA9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4 · When a settlement is full: the overflow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453F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8</a:t>
            </a:r>
          </a:p>
        </p:txBody>
      </p:sp>
      <p:pic>
        <p:nvPicPr>
          <p:cNvPr id="22" name="Picture 21" descr="K03_overflow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2398263"/>
            <a:ext cx="11520000" cy="5535472"/>
          </a:xfrm>
          <a:prstGeom prst="rect">
            <a:avLst/>
          </a:prstGeom>
        </p:spPr>
      </p:pic>
      <p:pic>
        <p:nvPicPr>
          <p:cNvPr id="23" name="Picture 22" descr="K04_overflow_settle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027" y="7956000"/>
            <a:ext cx="7099945" cy="39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960000" y="2556000"/>
            <a:ext cx="10440000" cy="8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A settlement grows at the series' rate until its empty plots are built.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With the overflow its further growth moves to its neighbours: every settlement fills by 2070, 349,029 people.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Without it, 7 settlements never fill before 2100, the area holds 273,616 in 2070, and 75,414 people of the series have nowhere to go.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Ibri's overflow: Al Araqi 70 %, Al Qurayn 20 %, Shalashil 10 %, then Ad Dariz, then the nearest with room.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97D"/>
                </a:solidFill>
                <a:latin typeface="Calibri"/>
              </a:rPr>
              <a:t>• A sewer sized on own growth in those settlements is sized for land that never fills.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4.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overflow: when a settlement's land is full, its further growth moves to its neighbours. Without it 75,000 people of the series have nowhere to go by 2070.</a:t>
            </a:r>
          </a:p>
        </p:txBody>
      </p:sp>
      <p:pic>
        <p:nvPicPr>
          <p:cNvPr id="27" name="icon trending-up">
            <a:extLst>
              <a:ext uri="{FF2B5EF4-FFF2-40B4-BE49-F238E27FC236}">
                <a16:creationId xmlns:a16="http://schemas.microsoft.com/office/drawing/2014/main" id="{2D33D04B-57A0-D3C7-5E6D-FF645BD97EC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5 · The design horizon: 2055, or the year the land is full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453F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9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12239999" cy="583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4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2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2055 = 2030 + 25 years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2070 = the land is full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People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244,914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349,029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Average sewage flow, m³/d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42,266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60,099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STP average with the margin, m³/d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46,492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66,109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STP peak hour with the margin, m³/d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78,322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106,724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What it means for the network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cheaper; full while the plots around it are still being built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laid once; runs at low flow for longer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Picture 22" descr="C08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0000" y="2945910"/>
            <a:ext cx="10080000" cy="49801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20000" y="8676000"/>
            <a:ext cx="10080000" cy="2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The Terms of Reference name both: completion plus 25 years, and the saturation of the area.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Saturation is 42 % more flow than 2055. The STP is staged on the series either way.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5.  </a:t>
            </a:r>
            <a:r>
              <a:rPr sz="2600">
                <a:solidFill>
                  <a:srgbClr val="262626"/>
                </a:solidFill>
                <a:latin typeface="Calibri"/>
              </a:rPr>
              <a:t>Decide the design horizon: 2055, the opening year 2030 plus 25 years, with 244,914 people and 42,266 cubic metres a day; or 2070, the year the land is full, with 349,029 people and 60,099 cubic metres a day.</a:t>
            </a:r>
          </a:p>
        </p:txBody>
      </p:sp>
      <p:pic>
        <p:nvPicPr>
          <p:cNvPr id="27" name="icon trending-up">
            <a:extLst>
              <a:ext uri="{FF2B5EF4-FFF2-40B4-BE49-F238E27FC236}">
                <a16:creationId xmlns:a16="http://schemas.microsoft.com/office/drawing/2014/main" id="{42BFE1E5-1B84-1B0B-A04B-0E5492389C5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6 · The growth beyond 2050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453F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B4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10</a:t>
            </a:r>
          </a:p>
        </p:txBody>
      </p:sp>
      <p:pic>
        <p:nvPicPr>
          <p:cNvPr id="22" name="Picture 21" descr="C12_growth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3792774"/>
            <a:ext cx="12960000" cy="50864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400000" y="2556000"/>
            <a:ext cx="9000000" cy="8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To 2040: the official forecast for the wilayat. 2041 to 2050: its extension in the Inception Report. Both are the client's own.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From 2051 the series rises from 2.2 % a year to 2.40 by 2058 and holds it to 2100, the horizon NWS instructed.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5A5A5A"/>
                </a:solidFill>
                <a:latin typeface="Calibri"/>
              </a:rPr>
              <a:t>• The guideline allows ten years of extension beyond a forecast; this goes further.</a:t>
            </a:r>
          </a:p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497D"/>
                </a:solidFill>
                <a:latin typeface="Calibri"/>
              </a:rPr>
              <a:t>• Only the rate is used. The series' 2100 total is not a target: the land fills 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1880000"/>
            <a:ext cx="23148000" cy="1296000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6.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extension of the population series beyond 2050: the rise to 2.40 per cent a year by 2058 and that rate held to 2100. The series to 2050 is the client's own.</a:t>
            </a:r>
          </a:p>
        </p:txBody>
      </p:sp>
      <p:pic>
        <p:nvPicPr>
          <p:cNvPr id="26" name="icon trending-up">
            <a:extLst>
              <a:ext uri="{FF2B5EF4-FFF2-40B4-BE49-F238E27FC236}">
                <a16:creationId xmlns:a16="http://schemas.microsoft.com/office/drawing/2014/main" id="{6ADB423F-CF78-780B-1FFB-252D2C3354F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The flow each element is designed for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E8E5E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11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23147998" cy="842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4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Sized on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Checked on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Adds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Plot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its average flow, each year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nothing: no peak, no infiltration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Pipe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saturation flow of the plots upstream, peaked, + infiltration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2030 flow × 61 % connected, peaked, no infiltration: self-cleansing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Merrimack &gt; 100 properties, Peltier ≤ 100; 720 l/d per km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Pumping station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peak of its catchment + infiltration, at saturation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rising main 0.75 to 2.5 m/s (1.0 start-stop)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12 m of cover is the limit at this stage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Trunk sewers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sum of the settlements upstream, peaked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same rules as the pipe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STP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average annual flow × 1.10 (biology, with the load)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peak hourly flow × 1.10 (pass-through structures)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infiltration of the network; tankers when recorded; maximum day from records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4" name="icon pipeline">
            <a:extLst>
              <a:ext uri="{FF2B5EF4-FFF2-40B4-BE49-F238E27FC236}">
                <a16:creationId xmlns:a16="http://schemas.microsoft.com/office/drawing/2014/main" id="{B0681A17-74B8-3B5B-25EE-860A0A3C656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Decision 7 · Gradients and self-cleansing at the concept stage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E8E5E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3E8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12</a:t>
            </a:r>
          </a:p>
        </p:txBody>
      </p:sp>
      <p:pic>
        <p:nvPicPr>
          <p:cNvPr id="22" name="Picture 21" descr="K02_mara_minim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2592058"/>
            <a:ext cx="12240000" cy="67678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680000" y="2556000"/>
            <a:ext cx="9720000" cy="8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Every pipe laid at the guideline's Table 11 minimum gradient, rounded up to 0.05 % steps (our rounding, for round figures on the drawings).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The guideline also asks for the tractive-force test and the steeper of the two. The tension it needs is not given; 1 pascal is used.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At this stage the test only lists the pipes that need early washing; it steepens nothing.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A pipe under 1.5 l/s is checked as if it carried 1.5: the curve asks 0.47 %, so a 200 mm pipe at Table 11 always passes.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97D"/>
                </a:solidFill>
                <a:latin typeface="Calibri"/>
              </a:rPr>
              <a:t>• This is a departure from PAM-GUD-203 §4.2.2.1, stated for approval.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1610000"/>
            <a:ext cx="23148000" cy="1565999"/>
          </a:xfrm>
          <a:prstGeom prst="rect">
            <a:avLst/>
          </a:prstGeom>
          <a:solidFill>
            <a:srgbClr val="EAF1F8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rIns="216000" rtlCol="0" anchor="ctr"/>
          <a:lstStyle/>
          <a:p>
            <a:pPr algn="l"/>
            <a:r>
              <a:rPr sz="2600" b="1">
                <a:solidFill>
                  <a:srgbClr val="1F497D"/>
                </a:solidFill>
                <a:latin typeface="Calibri"/>
              </a:rPr>
              <a:t>Decision 7.  </a:t>
            </a:r>
            <a:r>
              <a:rPr sz="2600">
                <a:solidFill>
                  <a:srgbClr val="262626"/>
                </a:solidFill>
                <a:latin typeface="Calibri"/>
              </a:rPr>
              <a:t>Approve the concept-stage rule: pipes laid at the Table 11 minimum gradient rounded up to steps of 0.05 per cent; the tractive-force test at 1 pascal used only to list the pipes needing early washing, with a pipe carrying less than 1.5 l/s checked as if it carried 1.5. The guideline asks for the steeper of the two gradients; this is a departure.</a:t>
            </a:r>
          </a:p>
        </p:txBody>
      </p:sp>
      <p:pic>
        <p:nvPicPr>
          <p:cNvPr id="26" name="icon pipeline">
            <a:extLst>
              <a:ext uri="{FF2B5EF4-FFF2-40B4-BE49-F238E27FC236}">
                <a16:creationId xmlns:a16="http://schemas.microsoft.com/office/drawing/2014/main" id="{5A515853-EA5F-9531-8694-E510BA8E95C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STP flows by year, and any catchment's flow read off the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B4C9A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13</a:t>
            </a:r>
          </a:p>
        </p:txBody>
      </p:sp>
      <p:pic>
        <p:nvPicPr>
          <p:cNvPr id="22" name="Picture 21" descr="B03_satu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2685495"/>
            <a:ext cx="14400000" cy="10181009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5480000" y="2556000"/>
          <a:ext cx="7920000" cy="41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2055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2070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People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139,535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244,914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349,029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Average from the plots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24,216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42,266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60,099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Average annual flow, +10 %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26,638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46,492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66,109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Peak hourly flow, +10 %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48,003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78,322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62626"/>
                          </a:solidFill>
                          <a:latin typeface="Calibri"/>
                        </a:rPr>
                        <a:t>106,724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480000" y="7236000"/>
            <a:ext cx="7920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>
                <a:solidFill>
                  <a:srgbClr val="5A5A5A"/>
                </a:solidFill>
                <a:latin typeface="Calibri"/>
              </a:rPr>
              <a:t>• One STP for the whole area, before infiltration and tankers.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5A5A5A"/>
                </a:solidFill>
                <a:latin typeface="Calibri"/>
              </a:rPr>
              <a:t>• Infiltration to add: 0.79 m³/d per km of sewer, with the margin.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5A5A5A"/>
                </a:solidFill>
                <a:latin typeface="Calibri"/>
              </a:rPr>
              <a:t>• The four steps on the map give any grouping of settlements its own STP flow by hand.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5A5A5A"/>
                </a:solidFill>
                <a:latin typeface="Calibri"/>
              </a:rPr>
              <a:t>• Maximum day flow: from the existing STP's records, requested.</a:t>
            </a:r>
          </a:p>
        </p:txBody>
      </p:sp>
      <p:pic>
        <p:nvPicPr>
          <p:cNvPr id="26" name="icon building-factory-2">
            <a:extLst>
              <a:ext uri="{FF2B5EF4-FFF2-40B4-BE49-F238E27FC236}">
                <a16:creationId xmlns:a16="http://schemas.microsoft.com/office/drawing/2014/main" id="{B7672C1B-E45B-A892-FBCB-66E029AF2B0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The STP load and the treated effluent (for information)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B4C9A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14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14400000" cy="417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Load at the STP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2055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2070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BOD, kg/d (60 g per person per day)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8,372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14,695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20,942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Suspended solids, kg/d (80 g per person per day)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11,163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19,593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27,922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BOD as a concentration, mg/l (guideline range 350 to 400)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0000" y="7416000"/>
          <a:ext cx="14400000" cy="417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Treated effluent, m³/d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2055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2070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STP inflow, design average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26,638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46,492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66,109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Produced, 95 %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25,306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44,168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62,803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Delivered, less 10 % in the network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22,776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39,751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56,523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840000" y="2556000"/>
            <a:ext cx="7560000" cy="9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No laboratory data for Ibri's sewage is held: the guideline's minimum per person is used until the existing STP's results arrive.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Sewage by tanker is far stronger (350 to 1,050 mg/l BOD) and is provided for separately once its records arrive.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• Two industrial estates, workshops on the commercial tariff: no wet industry found, no separate line foreseen.</a:t>
            </a:r>
          </a:p>
        </p:txBody>
      </p:sp>
      <p:pic>
        <p:nvPicPr>
          <p:cNvPr id="26" name="icon building-factory-2">
            <a:extLst>
              <a:ext uri="{FF2B5EF4-FFF2-40B4-BE49-F238E27FC236}">
                <a16:creationId xmlns:a16="http://schemas.microsoft.com/office/drawing/2014/main" id="{EF56C6D7-8BA2-5B22-D064-8F774D346EC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Seven data requests: each replaces an assumption with a record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A5A5A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15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23147999" cy="979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What is asked for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Tanker water and sewage tankers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Filling-station volumes by area and sewage tanker deliveries to the STP, with their source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Water supplied by tanker is not in any flow. It can only raise the loads.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Private wells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Any record of private abstraction inside the study area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The guideline requires it to be assessed. Not held.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Existing STP records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Daily inflow and the laboratory results for the Ibri STP, three years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Sets the maximum day flow and checks the per-person loads.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Industrial estates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Workforce and water use of the Al Tayyeb and Tanam estates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Replaces the assumed 4,500 and 1,800 workers.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Army camp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Occupancy and drainage arrangement of the camp west of the town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296 hectares with no meter in the dataset.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Ibri View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The development plan of the resort at As Sulayf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Two square kilometres announced; no load carried until the plan is issued.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Non-domestic quantities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Pupils, beds, employees and floor areas by plot, where held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Calibri"/>
                        </a:rPr>
                        <a:t>Would allow the unit rates of the guideline in place of the ratios.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4" name="icon clipboard-check">
            <a:extLst>
              <a:ext uri="{FF2B5EF4-FFF2-40B4-BE49-F238E27FC236}">
                <a16:creationId xmlns:a16="http://schemas.microsoft.com/office/drawing/2014/main" id="{EFB0CA43-5781-9DC0-1F21-2760FD39637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4000" y="594000"/>
            <a:ext cx="3456000" cy="684000"/>
          </a:xfrm>
          <a:prstGeom prst="roundRect">
            <a:avLst>
              <a:gd name="adj" fmla="val 5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000" y="594000"/>
            <a:ext cx="2736000" cy="68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spc="150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0" y="216000"/>
            <a:ext cx="16704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Arial"/>
              </a:rPr>
              <a:t>The answer sheet: seven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000" y="1872000"/>
            <a:ext cx="20448000" cy="0"/>
          </a:xfrm>
          <a:prstGeom prst="line">
            <a:avLst/>
          </a:prstGeom>
          <a:ln w="76200">
            <a:solidFill>
              <a:srgbClr val="89A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n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00" y="208743"/>
            <a:ext cx="2772000" cy="170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4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8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2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02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36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26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60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Calibri"/>
              </a:rPr>
              <a:t>Plant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50000" y="13517999"/>
            <a:ext cx="2844000" cy="79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684000" y="13194000"/>
            <a:ext cx="2916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A5A5A"/>
                </a:solidFill>
                <a:latin typeface="Calibri"/>
              </a:rPr>
              <a:t>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4000" y="13517999"/>
            <a:ext cx="2844000" cy="792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68000" y="13194000"/>
            <a:ext cx="1620000" cy="3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8C8C8C"/>
                </a:solidFill>
                <a:latin typeface="Calibri"/>
              </a:rPr>
              <a:t>16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2556000"/>
          <a:ext cx="23147999" cy="979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0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Settlement boundaries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twenty-five settlement boundaries redrawn so that every plot lies in one settlement and there are no gaps between them.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Persons per property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persons per property calculated for each settlement, with the floor of 4.0, the cap of 6.12 and the rule for settlements under a thousand people.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Use of each plot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use determined for each plot from the meters and the satellite image, in place of the cadastre's own land-use field, as the basis for placing the loads.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The overflow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overflow: when a settlement's land is full, its further growth moves to its neighbours. Without it 75,000 people of the series have nowhere to go by 2070.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The design horizon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Decide the design horizon: 2055, the opening year 2030 plus 25 years, with 244,914 people and 42,266 cubic metres a day; or 2070, the year the land is full, with 349,029 people and 60,099 cubic metres a day.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The growth beyond 2050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extension of the population series beyond 2050: the rise to 2.40 per cent a year by 2058 and that rate held to 2100. The series to 2050 is the client's own.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Gradients and self-cleansing at the concept stage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Approve the concept-stage rule: pipes laid at the Table 11 minimum gradient rounded up to steps of 0.05 per cent; the tractive-force test at 1 pascal used only to list the pipes needing early washing, with a pipe carrying less than 1.5 l/s checked as if it carried 1.5. The guideline asks for the steeper of the two gradients; this is a departure.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☐ Yes    ☐ No</a:t>
                      </a:r>
                    </a:p>
                  </a:txBody>
                  <a:tcPr marL="108000" marR="108000" marT="54000" marB="54000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4" name="icon clipboard-check">
            <a:extLst>
              <a:ext uri="{FF2B5EF4-FFF2-40B4-BE49-F238E27FC236}">
                <a16:creationId xmlns:a16="http://schemas.microsoft.com/office/drawing/2014/main" id="{F231390A-8E60-7FB1-DA59-F5ED423B1C6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01" y="720001"/>
            <a:ext cx="432001" cy="4320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443224" y="1515123"/>
            <a:ext cx="8928632" cy="3423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914400" rtl="0" eaLnBrk="0" latin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r" defTabSz="914400" rtl="1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r" defTabSz="914400" rtl="1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r" defTabSz="914400" rtl="1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r" defTabSz="914400" rtl="1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557268" indent="-557268" algn="ctr" defTabSz="1486049">
              <a:spcBef>
                <a:spcPct val="20000"/>
              </a:spcBef>
              <a:buClrTx/>
              <a:buNone/>
              <a:defRPr/>
            </a:pPr>
            <a:endParaRPr lang="en-US" sz="4800" b="1" dirty="0">
              <a:solidFill>
                <a:schemeClr val="bg1"/>
              </a:solidFill>
              <a:latin typeface="Calibri" pitchFamily="34" charset="0"/>
            </a:endParaRPr>
          </a:p>
          <a:p>
            <a:pPr marL="557268" indent="-557268" algn="ctr" defTabSz="1486049">
              <a:spcBef>
                <a:spcPct val="20000"/>
              </a:spcBef>
              <a:buClrTx/>
              <a:buNone/>
              <a:defRPr/>
            </a:pPr>
            <a:r>
              <a:rPr lang="en-US" sz="11900" b="1" u="sng" dirty="0">
                <a:solidFill>
                  <a:schemeClr val="bg1"/>
                </a:solidFill>
                <a:latin typeface="Calibri" pitchFamily="34" charset="0"/>
              </a:rPr>
              <a:t>Thank you</a:t>
            </a:r>
            <a:endParaRPr lang="ar-OM" sz="11900" b="1" u="sng" dirty="0">
              <a:solidFill>
                <a:schemeClr val="bg1"/>
              </a:solidFill>
              <a:latin typeface="Calibri" pitchFamily="34" charset="0"/>
              <a:cs typeface="HASOOB" pitchFamily="2" charset="-7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0000" y="9720000"/>
            <a:ext cx="10908000" cy="28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72000" y="9900000"/>
            <a:ext cx="97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5A5A5A"/>
                </a:solidFill>
                <a:latin typeface="Calibri"/>
              </a:rPr>
              <a:t>CONSULTANT  ·  JOINT VENTURE</a:t>
            </a:r>
          </a:p>
        </p:txBody>
      </p:sp>
      <p:pic>
        <p:nvPicPr>
          <p:cNvPr id="8" name="Picture 7" descr="logo_renar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00" y="10476000"/>
            <a:ext cx="5003410" cy="972000"/>
          </a:xfrm>
          <a:prstGeom prst="rect">
            <a:avLst/>
          </a:prstGeom>
        </p:spPr>
      </p:pic>
      <p:pic>
        <p:nvPicPr>
          <p:cNvPr id="9" name="Picture 8" descr="logo_doh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000" y="10566000"/>
            <a:ext cx="251428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05471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1">
  <a:themeElements>
    <a:clrScheme name="Nama Water Services Palett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224046"/>
      </a:accent1>
      <a:accent2>
        <a:srgbClr val="315258"/>
      </a:accent2>
      <a:accent3>
        <a:srgbClr val="3E5F65"/>
      </a:accent3>
      <a:accent4>
        <a:srgbClr val="49696C"/>
      </a:accent4>
      <a:accent5>
        <a:srgbClr val="47575A"/>
      </a:accent5>
      <a:accent6>
        <a:srgbClr val="677A7D"/>
      </a:accent6>
      <a:hlink>
        <a:srgbClr val="F9C8BC"/>
      </a:hlink>
      <a:folHlink>
        <a:srgbClr val="4D6F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a797863-20fc-4c50-9b05-2b46dc03ba43">ZJVKQZVYYP4V-1495287670-6814</_dlc_DocId>
    <_dlc_DocIdUrl xmlns="6a797863-20fc-4c50-9b05-2b46dc03ba43">
      <Url>http://multaqa/Water/Water (Projects) Capital Delivery/_layouts/15/DocIdRedir.aspx?ID=ZJVKQZVYYP4V-1495287670-6814</Url>
      <Description>ZJVKQZVYYP4V-1495287670-6814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5242900351094D926BD8564BCBF917" ma:contentTypeVersion="1" ma:contentTypeDescription="Create a new document." ma:contentTypeScope="" ma:versionID="b147f363f7838f8baf8a104d43d0c53a">
  <xsd:schema xmlns:xsd="http://www.w3.org/2001/XMLSchema" xmlns:xs="http://www.w3.org/2001/XMLSchema" xmlns:p="http://schemas.microsoft.com/office/2006/metadata/properties" xmlns:ns2="6a797863-20fc-4c50-9b05-2b46dc03ba43" targetNamespace="http://schemas.microsoft.com/office/2006/metadata/properties" ma:root="true" ma:fieldsID="555f0396c5d7f33f1eca3d333d6af2f3" ns2:_="">
    <xsd:import namespace="6a797863-20fc-4c50-9b05-2b46dc03ba4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7863-20fc-4c50-9b05-2b46dc03ba4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BD5543-EF71-4DE5-B787-995A1F82217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65ABA49-0D65-4BBF-97F4-605844F90B64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a797863-20fc-4c50-9b05-2b46dc03ba43"/>
  </ds:schemaRefs>
</ds:datastoreItem>
</file>

<file path=customXml/itemProps3.xml><?xml version="1.0" encoding="utf-8"?>
<ds:datastoreItem xmlns:ds="http://schemas.openxmlformats.org/officeDocument/2006/customXml" ds:itemID="{6DBBF525-2681-472E-B469-CB423524006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BCF5230-D10F-45E1-B9F0-A1382379A0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797863-20fc-4c50-9b05-2b46dc03ba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32169</TotalTime>
  <Words>3002</Words>
  <Application>Microsoft Office PowerPoint</Application>
  <PresentationFormat>Custom</PresentationFormat>
  <Paragraphs>432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Avenir Black</vt:lpstr>
      <vt:lpstr>Avenir Book</vt:lpstr>
      <vt:lpstr>Avenir Light</vt:lpstr>
      <vt:lpstr>Avenir Medium</vt:lpstr>
      <vt:lpstr>AvenirNext LT Pro Bold</vt:lpstr>
      <vt:lpstr>Calibri</vt:lpstr>
      <vt:lpstr>Helvetica</vt:lpstr>
      <vt:lpstr>Master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Mojtaba Keivanlou</cp:lastModifiedBy>
  <cp:revision>236</cp:revision>
  <dcterms:modified xsi:type="dcterms:W3CDTF">2026-09-15T07:23:32Z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0x010100505242900351094D926BD8564BCBF917</vt:lpwstr>
  </property>
  <property fmtid="{D5CDD505-2E9C-101B-9397-08002B2CF9AE}" pid="3" name="_dlc_DocIdItemGuid">
    <vt:lpwstr>180d851d-f1a3-4ec3-b631-9323fd9b60d4</vt:lpwstr>
  </property>
</Properties>
</file>